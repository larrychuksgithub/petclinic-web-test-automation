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8"/>
  </p:normalViewPr>
  <p:slideViewPr>
    <p:cSldViewPr snapToGrid="0" snapToObjects="1">
      <p:cViewPr varScale="1">
        <p:scale>
          <a:sx n="132" d="100"/>
          <a:sy n="132" d="100"/>
        </p:scale>
        <p:origin x="320"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3831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 ca. 1:00 Min.</a:t>
            </a:r>
          </a:p>
          <a:p>
            <a:endParaRPr/>
          </a:p>
          <a:p>
            <a:r>
              <a:t>„Herzlich willkommen. In diesem Workshop möchte ich nicht einfach ein bestimmtes Testautomatisierungswerkzeug verkaufen. Mein Ziel ist vielmehr, gemeinsam mit Ihnen herauszufinden, welches Werkzeug zu Ihrem Produkt, Ihrer technischen Landschaft und vor allem zu Ihrem Team passt.</a:t>
            </a:r>
          </a:p>
          <a:p>
            <a:endParaRPr/>
          </a:p>
          <a:p>
            <a:r>
              <a:t>Die Ausgangssituation ist interessant: Wir wissen aktuell noch nicht, welche Produkte und Technologien im Einsatz sind, wer die Automatisierung später verantwortet und welches Budget zur Verfügung steht.</a:t>
            </a:r>
          </a:p>
          <a:p>
            <a:endParaRPr/>
          </a:p>
          <a:p>
            <a:r>
              <a:t>Deshalb ist mein Ansatz: Erst verstehen, dann bewerten und anschließend anhand eines kleinen Proof of Concepts eine belastbare Entscheidung treffen.“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 ca. 1:15 Min.</a:t>
            </a:r>
          </a:p>
          <a:p>
            <a:endParaRPr/>
          </a:p>
          <a:p>
            <a:r>
              <a:t>„Aus meiner Sicht haben wir hier mehrere offene Punkte, die für die Toolauswahl entscheidend sind.</a:t>
            </a:r>
          </a:p>
          <a:p>
            <a:endParaRPr/>
          </a:p>
          <a:p>
            <a:r>
              <a:t>Erstens kennen wir die technische Landschaft noch nicht. Handelt es sich um eine Webanwendung, Mobile App, APIs oder eine Kombination?</a:t>
            </a:r>
          </a:p>
          <a:p>
            <a:endParaRPr/>
          </a:p>
          <a:p>
            <a:r>
              <a:t>Zweitens ist die organisatorische Frage wichtig: Wer schreibt später die Tests? Tester, Entwickler, ein eigenes Automation-Team oder vielleicht ein gemischtes Team?</a:t>
            </a:r>
          </a:p>
          <a:p>
            <a:endParaRPr/>
          </a:p>
          <a:p>
            <a:r>
              <a:t>Und drittens müssen wir das Budget berücksichtigen. Dabei würde ich nicht nur auf Lizenzkosten schauen, sondern auf die gesamten Kosten über den Lebenszyklus.</a:t>
            </a:r>
          </a:p>
          <a:p>
            <a:endParaRPr/>
          </a:p>
          <a:p>
            <a:r>
              <a:t>Daher würde ich bewusst noch keine finale Toolentscheidung treffen. Genau diese Offenheit ist in einer Presales-Situation aus meiner Sicht ein Vorteil.“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 ca. 1:30 Min.</a:t>
            </a:r>
          </a:p>
          <a:p>
            <a:endParaRPr/>
          </a:p>
          <a:p>
            <a:r>
              <a:t>„Mein erster Schritt wäre eine Discovery-Phase.</a:t>
            </a:r>
          </a:p>
          <a:p>
            <a:endParaRPr/>
          </a:p>
          <a:p>
            <a:r>
              <a:t>Ich würde mir zunächst User Stories und Acceptance Criteria ansehen. Danach würde ich das Produkt selbst explorativ testen. Das ist wichtig, weil man dadurch nicht nur die Dokumentation kennt, sondern auch versteht, wie das Produkt tatsächlich funktioniert.</a:t>
            </a:r>
          </a:p>
          <a:p>
            <a:endParaRPr/>
          </a:p>
          <a:p>
            <a:r>
              <a:t>Dabei würde ich Fragen stellen wie: Welche Geschäftsprozesse sind kritisch? Wo entstehen häufig Fehler? Welche Funktionen werden sehr häufig verwendet? Welche Regressionstests kosten heute besonders viel Zeit?</a:t>
            </a:r>
          </a:p>
          <a:p>
            <a:endParaRPr/>
          </a:p>
          <a:p>
            <a:r>
              <a:t>Zusätzlich würde ich die technische Umgebung untersuchen: Browser, APIs, Mobile Devices, CI/CD, Versionsverwaltung, Testdaten und vorhandene Testframeworks.</a:t>
            </a:r>
          </a:p>
          <a:p>
            <a:endParaRPr/>
          </a:p>
          <a:p>
            <a:r>
              <a:t>Das Ziel ist nicht, möglichst viele Tests zu automatisieren. Das Ziel ist, die richtigen Tests zu automatisieren.“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 ca. 1:20 Min.</a:t>
            </a:r>
          </a:p>
          <a:p>
            <a:endParaRPr/>
          </a:p>
          <a:p>
            <a:r>
              <a:t>„Danach würde ich gemeinsam mit dem Kunden Kriterien für die Werkzeugauswahl definieren.</a:t>
            </a:r>
          </a:p>
          <a:p>
            <a:endParaRPr/>
          </a:p>
          <a:p>
            <a:r>
              <a:t>Ein Werkzeug muss natürlich technisch geeignet sein. Aber technische Eignung alleine reicht nicht.</a:t>
            </a:r>
          </a:p>
          <a:p>
            <a:endParaRPr/>
          </a:p>
          <a:p>
            <a:r>
              <a:t>Wir müssen auch betrachten, wie einfach das Framework für das zukünftige Team zu lernen und zu warten ist. Ein Test, der heute funktioniert, aber in drei Monaten schwer wartbar ist, ist keine gute Automatisierung.</a:t>
            </a:r>
          </a:p>
          <a:p>
            <a:endParaRPr/>
          </a:p>
          <a:p>
            <a:r>
              <a:t>Weitere Kriterien wären die Integration in CI/CD, Parallelisierung, Reporting, Debugging, Community beziehungsweise Support und natürlich Kosten.</a:t>
            </a:r>
          </a:p>
          <a:p>
            <a:endParaRPr/>
          </a:p>
          <a:p>
            <a:r>
              <a:t>Ein wichtiger Punkt ist außerdem die Wartbarkeit. Für mich ist ein einfach zu wartender Test langfristig wertvoller als ein Test, der zwar schnell entwickelt wurde, aber ständig angepasst werden muss.“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 ca. 1:20 Min.</a:t>
            </a:r>
          </a:p>
          <a:p>
            <a:endParaRPr/>
          </a:p>
          <a:p>
            <a:r>
              <a:t>„Bei den konkreten Werkzeugen würde ich abhängig vom Produkt verschiedene Kandidaten betrachten.</a:t>
            </a:r>
          </a:p>
          <a:p>
            <a:endParaRPr/>
          </a:p>
          <a:p>
            <a:r>
              <a:t>Für Webanwendungen wären Playwright und Selenium naheliegende Kandidaten.</a:t>
            </a:r>
          </a:p>
          <a:p>
            <a:endParaRPr/>
          </a:p>
          <a:p>
            <a:r>
              <a:t>Für API- und Backend-Tests kann beispielsweise REST Assured interessant sein, insbesondere wenn die Entwicklungslandschaft Java-basiert ist. Alternativ können API-Funktionen eines modernen E2E-Frameworks ausreichend sein.</a:t>
            </a:r>
          </a:p>
          <a:p>
            <a:endParaRPr/>
          </a:p>
          <a:p>
            <a:r>
              <a:t>Für Mobile würde ich Appium als Kandidaten betrachten. Hier muss zusätzlich die Frage nach realen Geräten, Emulatoren, Simulatoren oder einer Device Cloud geklärt werden.</a:t>
            </a:r>
          </a:p>
          <a:p>
            <a:endParaRPr/>
          </a:p>
          <a:p>
            <a:r>
              <a:t>Wichtig ist: Ich würde nicht versuchen, zwanghaft ein einziges Werkzeug für alle Testarten einzusetzen. Die Architektur sollte zum Produkt passen.“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 ca. 1:15 Min.</a:t>
            </a:r>
          </a:p>
          <a:p>
            <a:endParaRPr/>
          </a:p>
          <a:p>
            <a:r>
              <a:t>„Wenn ich heute – bei noch unvollständigen Informationen – einen Kandidaten für Webautomatisierung auswählen müsste, würde ich Playwright in den Proof of Concept aufnehmen.</a:t>
            </a:r>
          </a:p>
          <a:p>
            <a:endParaRPr/>
          </a:p>
          <a:p>
            <a:r>
              <a:t>Warum? Es bietet eine moderne Entwicklungsumgebung, unterstützt mehrere Browser und lässt sich gut in CI/CD integrieren. Auch Funktionen für Tracing und Debugging können bei der Fehlersuche sehr hilfreich sein.</a:t>
            </a:r>
          </a:p>
          <a:p>
            <a:endParaRPr/>
          </a:p>
          <a:p>
            <a:r>
              <a:t>Außerdem halte ich die Einstiegshürde für ein gemischtes Team aus Testern und Entwicklern für relativ niedrig.</a:t>
            </a:r>
          </a:p>
          <a:p>
            <a:endParaRPr/>
          </a:p>
          <a:p>
            <a:r>
              <a:t>Aber wichtig: Das ist noch keine endgültige Empfehlung. Ich würde Playwright im PoC gegen die relevanten Alternativen vergleichen. So können wir die Entscheidung mit echten Ergebnissen begründen.“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 ca. 1:20 Min.</a:t>
            </a:r>
          </a:p>
          <a:p>
            <a:endParaRPr/>
          </a:p>
          <a:p>
            <a:r>
              <a:t>„Ein weiterer Punkt meiner ursprünglichen Lösung war BDD beziehungsweise Cucumber.</a:t>
            </a:r>
          </a:p>
          <a:p>
            <a:endParaRPr/>
          </a:p>
          <a:p>
            <a:r>
              <a:t>BDD kann sehr sinnvoll sein, wenn Business, Product Owner, Tester und Entwickler gemeinsam an fachlichen Szenarien arbeiten sollen.</a:t>
            </a:r>
          </a:p>
          <a:p>
            <a:endParaRPr/>
          </a:p>
          <a:p>
            <a:r>
              <a:t>Der große Vorteil ist die gemeinsame Sprache. Ein Szenario kann beispielsweise fachlich formuliert werden, sodass auch ein Product Owner verstehen kann, was getestet wird.</a:t>
            </a:r>
          </a:p>
          <a:p>
            <a:endParaRPr/>
          </a:p>
          <a:p>
            <a:r>
              <a:t>Aber BDD ist nicht automatisch die beste Lösung für jedes Projekt. Es bringt eine zusätzliche Abstraktionsschicht und damit auch Pflegeaufwand mit sich.</a:t>
            </a:r>
          </a:p>
          <a:p>
            <a:endParaRPr/>
          </a:p>
          <a:p>
            <a:r>
              <a:t>Meine Empfehlung wäre deshalb: BDD einsetzen, wenn es tatsächlich die Kommunikation und Zusammenarbeit verbessert – nicht einfach, weil Cucumber ein bekanntes Tool ist.“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 ca. 1:15 Min.</a:t>
            </a:r>
          </a:p>
          <a:p>
            <a:endParaRPr/>
          </a:p>
          <a:p>
            <a:r>
              <a:t>„Da wir heute noch nicht wissen, wer die Automatisierung übernimmt, würde ich diese Frage sehr früh klären.</a:t>
            </a:r>
          </a:p>
          <a:p>
            <a:endParaRPr/>
          </a:p>
          <a:p>
            <a:r>
              <a:t>Ein Test Engineer kann beispielsweise Testdesign und Automatisierung verantworten. Entwickler können bei Testbarkeit und technischer Architektur unterstützen. Der Product Owner liefert fachliche Prioritäten und Akzeptanzkriterien. DevOps unterstützt bei CI/CD und Infrastruktur.</a:t>
            </a:r>
          </a:p>
          <a:p>
            <a:endParaRPr/>
          </a:p>
          <a:p>
            <a:r>
              <a:t>Ich würde deshalb ein kleines verantwortliches Kernteam definieren.</a:t>
            </a:r>
          </a:p>
          <a:p>
            <a:endParaRPr/>
          </a:p>
          <a:p>
            <a:r>
              <a:t>Das ist wichtig, weil Testautomatisierung kein einmaliges Projekt ist. Tests müssen gepflegt, analysiert und bei Änderungen am Produkt angepasst werden.</a:t>
            </a:r>
          </a:p>
          <a:p>
            <a:endParaRPr/>
          </a:p>
          <a:p>
            <a:r>
              <a:t>Die Ownership muss daher von Anfang an klar sein.“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 ca. 1:15 Min.</a:t>
            </a:r>
          </a:p>
          <a:p>
            <a:endParaRPr/>
          </a:p>
          <a:p>
            <a:r>
              <a:t>„Beim Budget möchte ich eine häufige Fehlannahme vermeiden: Open Source bedeutet nicht automatisch kostenlos.</a:t>
            </a:r>
          </a:p>
          <a:p>
            <a:endParaRPr/>
          </a:p>
          <a:p>
            <a:r>
              <a:t>Natürlich können wir mit Open-Source-Tools Lizenzkosten vermeiden. Aber es entstehen trotzdem Kosten für Entwicklung, Schulung, Infrastruktur, CI/CD, Testdaten, Geräte und Wartung.</a:t>
            </a:r>
          </a:p>
          <a:p>
            <a:endParaRPr/>
          </a:p>
          <a:p>
            <a:r>
              <a:t>Deshalb würde ich dem Kunden eine TCO-Betrachtung empfehlen – also Total Cost of Ownership.</a:t>
            </a:r>
          </a:p>
          <a:p>
            <a:endParaRPr/>
          </a:p>
          <a:p>
            <a:r>
              <a:t>Ein kommerzielles Werkzeug kann trotz Lizenzkosten wirtschaftlich sein, wenn beispielsweise Support, Reporting oder Administration deutlich einfacher sind.</a:t>
            </a:r>
          </a:p>
          <a:p>
            <a:endParaRPr/>
          </a:p>
          <a:p>
            <a:r>
              <a:t>Die Frage sollte also nicht sein: Was kostet das Tool? Sondern: Was kostet die gesamte Lösung und welchen Nutzen erhalten wir dafür?“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 ca. 1:30 Min.</a:t>
            </a:r>
          </a:p>
          <a:p>
            <a:endParaRPr/>
          </a:p>
          <a:p>
            <a:r>
              <a:t>„Mein konkreter Vorschlag wäre deshalb ein Proof of Concept.</a:t>
            </a:r>
          </a:p>
          <a:p>
            <a:endParaRPr/>
          </a:p>
          <a:p>
            <a:r>
              <a:t>Wir nehmen nicht hundert Testfälle, sondern einen repräsentativen und geschäftskritischen Prozess.</a:t>
            </a:r>
          </a:p>
          <a:p>
            <a:endParaRPr/>
          </a:p>
          <a:p>
            <a:r>
              <a:t>Diesen Prozess automatisieren wir beispielsweise mit Playwright und vergleichen ihn – wenn relevant – mit einer Alternative.</a:t>
            </a:r>
          </a:p>
          <a:p>
            <a:endParaRPr/>
          </a:p>
          <a:p>
            <a:r>
              <a:t>Wir schauen dabei nicht nur, ob der Test funktioniert. Wir messen auch Entwicklungsaufwand, Stabilität, Wartbarkeit, Ausführungszeit, CI/CD-Integration und Fehlersuche.</a:t>
            </a:r>
          </a:p>
          <a:p>
            <a:endParaRPr/>
          </a:p>
          <a:p>
            <a:r>
              <a:t>Am Ende haben wir reale Ergebnisse.</a:t>
            </a:r>
          </a:p>
          <a:p>
            <a:endParaRPr/>
          </a:p>
          <a:p>
            <a:r>
              <a:t>Das reduziert das Risiko einer falschen Toolentscheidung erheblich und gibt dem Kunden eine nachvollziehbare Grundlage für die Investitionsentscheidung.“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 ca. 1:15 Min.</a:t>
            </a:r>
          </a:p>
          <a:p>
            <a:endParaRPr/>
          </a:p>
          <a:p>
            <a:r>
              <a:t>„Nach dem PoC würde ich die Einführung schrittweise durchführen.</a:t>
            </a:r>
          </a:p>
          <a:p>
            <a:endParaRPr/>
          </a:p>
          <a:p>
            <a:r>
              <a:t>Zuerst definieren wir Architektur und Standards. Dazu gehören beispielsweise Projektstruktur, Naming, Selektoren, Testdaten, Logging und Reporting.</a:t>
            </a:r>
          </a:p>
          <a:p>
            <a:endParaRPr/>
          </a:p>
          <a:p>
            <a:r>
              <a:t>Danach starten wir mit einem kleinen Pilotumfang.</a:t>
            </a:r>
          </a:p>
          <a:p>
            <a:endParaRPr/>
          </a:p>
          <a:p>
            <a:r>
              <a:t>Wenn dieser stabil läuft, integrieren wir die Tests in die CI/CD-Pipeline und erweitern anschließend Schritt für Schritt.</a:t>
            </a:r>
          </a:p>
          <a:p>
            <a:endParaRPr/>
          </a:p>
          <a:p>
            <a:r>
              <a:t>Ich würde bewusst vermeiden, sofort die gesamte Regression zu automatisieren. Eine schrittweise Einführung reduziert technische und organisatorische Risiken.“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 ca. 1:00 Min.</a:t>
            </a:r>
          </a:p>
          <a:p>
            <a:endParaRPr/>
          </a:p>
          <a:p>
            <a:r>
              <a:t>„Zum Schluss brauchen wir messbare Erfolgskriterien.</a:t>
            </a:r>
          </a:p>
          <a:p>
            <a:endParaRPr/>
          </a:p>
          <a:p>
            <a:r>
              <a:t>Wir können beispielsweise betrachten, wie stabil die Tests sind, wie schnell Feedback geliefert wird und wie viel manuelle Regression eingespart wird.</a:t>
            </a:r>
          </a:p>
          <a:p>
            <a:endParaRPr/>
          </a:p>
          <a:p>
            <a:r>
              <a:t>Auch die Fehlersuche ist wichtig. Ein Test, der nur ‚failed‘ meldet, hilft wenig. Gute Logs, Reports und Traces können hier einen großen Unterschied machen.</a:t>
            </a:r>
          </a:p>
          <a:p>
            <a:endParaRPr/>
          </a:p>
          <a:p>
            <a:r>
              <a:t>Und natürlich müssen wir die Wartungskosten beobachten.</a:t>
            </a:r>
          </a:p>
          <a:p>
            <a:endParaRPr/>
          </a:p>
          <a:p>
            <a:r>
              <a:t>Automatisierung ist für mich dann erfolgreich, wenn sie dauerhaft einen schnelleren und zuverlässigeren Feedback-Prozess ermöglicht.“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 ca. 1:15 Min.</a:t>
            </a:r>
          </a:p>
          <a:p>
            <a:endParaRPr/>
          </a:p>
          <a:p>
            <a:r>
              <a:t>„Meine Empfehlung wäre daher zusammengefasst: Wir treffen heute noch keine endgültige Toolentscheidung.</a:t>
            </a:r>
          </a:p>
          <a:p>
            <a:endParaRPr/>
          </a:p>
          <a:p>
            <a:r>
              <a:t>Wir starten mit einer strukturierten Discovery, definieren gemeinsam die Auswahlkriterien und führen anschließend einen kleinen PoC durch.</a:t>
            </a:r>
          </a:p>
          <a:p>
            <a:endParaRPr/>
          </a:p>
          <a:p>
            <a:r>
              <a:t>Bei Web würde ich Playwright als starken Kandidaten aufnehmen. Bei APIs beispielsweise REST Assured, abhängig vom Technologie-Stack, und für Mobile Appium.</a:t>
            </a:r>
          </a:p>
          <a:p>
            <a:endParaRPr/>
          </a:p>
          <a:p>
            <a:r>
              <a:t>Open Source ist bei einem noch offenen Budget ein sinnvoller Ausgangspunkt, aber wir betrachten die Gesamtbetriebskosten.</a:t>
            </a:r>
          </a:p>
          <a:p>
            <a:endParaRPr/>
          </a:p>
          <a:p>
            <a:r>
              <a:t>Der nächste konkrete Schritt wäre ein Workshop mit Product Owner, QA beziehungsweise Test, Entwicklung und DevOps. Dort können wir die offenen Fragen beantworten und anschließend den PoC definieren.“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 ca. 1:00 Min.</a:t>
            </a:r>
          </a:p>
          <a:p>
            <a:endParaRPr/>
          </a:p>
          <a:p>
            <a:r>
              <a:t>„Damit würde ich gerne in die Diskussion mit Ihnen gehen.</a:t>
            </a:r>
          </a:p>
          <a:p>
            <a:endParaRPr/>
          </a:p>
          <a:p>
            <a:r>
              <a:t>Mich würden zunächst sechs Dinge besonders interessieren:</a:t>
            </a:r>
          </a:p>
          <a:p>
            <a:endParaRPr/>
          </a:p>
          <a:p>
            <a:r>
              <a:t>Welche Produkte und Technologien sollen getestet werden?</a:t>
            </a:r>
          </a:p>
          <a:p>
            <a:endParaRPr/>
          </a:p>
          <a:p>
            <a:r>
              <a:t>Welche Geschäftsprozesse sind besonders kritisch?</a:t>
            </a:r>
          </a:p>
          <a:p>
            <a:endParaRPr/>
          </a:p>
          <a:p>
            <a:r>
              <a:t>Wer wird zukünftig für die Automatisierung verantwortlich sein?</a:t>
            </a:r>
          </a:p>
          <a:p>
            <a:endParaRPr/>
          </a:p>
          <a:p>
            <a:r>
              <a:t>Welche CI/CD-Landschaft gibt es bereits?</a:t>
            </a:r>
          </a:p>
          <a:p>
            <a:endParaRPr/>
          </a:p>
          <a:p>
            <a:r>
              <a:t>Welche Anforderungen bestehen an Reporting, Compliance und Nachvollziehbarkeit?</a:t>
            </a:r>
          </a:p>
          <a:p>
            <a:endParaRPr/>
          </a:p>
          <a:p>
            <a:r>
              <a:t>Und welches Budget beziehungsweise welche internen Kapazitäten stehen zur Verfügung?</a:t>
            </a:r>
          </a:p>
          <a:p>
            <a:endParaRPr/>
          </a:p>
          <a:p>
            <a:r>
              <a:t>Mit diesen Informationen können wir aus einer allgemeinen Tooldiskussion eine konkrete und belastbare Entscheidung machen.</a:t>
            </a:r>
          </a:p>
          <a:p>
            <a:endParaRPr/>
          </a:p>
          <a:p>
            <a:r>
              <a:t>Vielen Dank.“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731520"/>
          </a:xfrm>
          <a:prstGeom prst="rect">
            <a:avLst/>
          </a:prstGeom>
          <a:noFill/>
        </p:spPr>
        <p:txBody>
          <a:bodyPr wrap="none">
            <a:spAutoFit/>
          </a:bodyPr>
          <a:lstStyle/>
          <a:p>
            <a:pPr>
              <a:defRPr sz="2700" b="1">
                <a:latin typeface="Aptos Display"/>
              </a:defRPr>
            </a:pPr>
            <a:r>
              <a:t>Testautomatisierungswerkzeuge – Beratung in der Presales-Situation</a:t>
            </a:r>
          </a:p>
        </p:txBody>
      </p:sp>
      <p:sp>
        <p:nvSpPr>
          <p:cNvPr id="3" name="Rectangle 2"/>
          <p:cNvSpPr/>
          <p:nvPr/>
        </p:nvSpPr>
        <p:spPr>
          <a:xfrm>
            <a:off x="640080" y="1170432"/>
            <a:ext cx="914400"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515600" cy="4754880"/>
          </a:xfrm>
          <a:prstGeom prst="rect">
            <a:avLst/>
          </a:prstGeom>
          <a:noFill/>
        </p:spPr>
        <p:txBody>
          <a:bodyPr wrap="square">
            <a:spAutoFit/>
          </a:bodyPr>
          <a:lstStyle/>
          <a:p>
            <a:pPr>
              <a:spcAft>
                <a:spcPts val="1200"/>
              </a:spcAft>
              <a:defRPr sz="1900">
                <a:latin typeface="Aptos"/>
              </a:defRPr>
            </a:pPr>
            <a:r>
              <a:t>• Ziel: Gemeinsam eine passende, nachhaltige Automatisierungsstrategie entwickeln</a:t>
            </a:r>
          </a:p>
          <a:p>
            <a:pPr>
              <a:spcAft>
                <a:spcPts val="1200"/>
              </a:spcAft>
              <a:defRPr sz="1900">
                <a:latin typeface="Aptos"/>
              </a:defRPr>
            </a:pPr>
            <a:r>
              <a:t>• Fokus: Anforderungen, Technologie, Team, Budget und langfristiger Betrieb</a:t>
            </a:r>
          </a:p>
          <a:p>
            <a:pPr>
              <a:spcAft>
                <a:spcPts val="1200"/>
              </a:spcAft>
              <a:defRPr sz="1900">
                <a:latin typeface="Aptos"/>
              </a:defRPr>
            </a:pPr>
            <a:r>
              <a:t>• Vorgehen: Erst verstehen → dann bewerten → Pilot durchführen → skalieren</a:t>
            </a:r>
          </a:p>
        </p:txBody>
      </p:sp>
      <p:sp>
        <p:nvSpPr>
          <p:cNvPr id="5" name="TextBox 4"/>
          <p:cNvSpPr txBox="1"/>
          <p:nvPr/>
        </p:nvSpPr>
        <p:spPr>
          <a:xfrm>
            <a:off x="9875520" y="6446520"/>
            <a:ext cx="1554480" cy="228600"/>
          </a:xfrm>
          <a:prstGeom prst="rect">
            <a:avLst/>
          </a:prstGeom>
          <a:noFill/>
        </p:spPr>
        <p:txBody>
          <a:bodyPr wrap="none">
            <a:spAutoFit/>
          </a:bodyPr>
          <a:lstStyle/>
          <a:p>
            <a:pPr algn="r">
              <a:defRPr sz="900"/>
            </a:pPr>
            <a: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731520"/>
          </a:xfrm>
          <a:prstGeom prst="rect">
            <a:avLst/>
          </a:prstGeom>
          <a:noFill/>
        </p:spPr>
        <p:txBody>
          <a:bodyPr wrap="none">
            <a:spAutoFit/>
          </a:bodyPr>
          <a:lstStyle/>
          <a:p>
            <a:pPr>
              <a:defRPr sz="2700" b="1">
                <a:latin typeface="Aptos Display"/>
              </a:defRPr>
            </a:pPr>
            <a:r>
              <a:t>1. Ausgangssituation &amp; offene Fragen</a:t>
            </a:r>
          </a:p>
        </p:txBody>
      </p:sp>
      <p:sp>
        <p:nvSpPr>
          <p:cNvPr id="3" name="Rectangle 2"/>
          <p:cNvSpPr/>
          <p:nvPr/>
        </p:nvSpPr>
        <p:spPr>
          <a:xfrm>
            <a:off x="640080" y="1170432"/>
            <a:ext cx="914400"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515600" cy="4754880"/>
          </a:xfrm>
          <a:prstGeom prst="rect">
            <a:avLst/>
          </a:prstGeom>
          <a:noFill/>
        </p:spPr>
        <p:txBody>
          <a:bodyPr wrap="square">
            <a:spAutoFit/>
          </a:bodyPr>
          <a:lstStyle/>
          <a:p>
            <a:pPr>
              <a:spcAft>
                <a:spcPts val="1200"/>
              </a:spcAft>
              <a:defRPr sz="1900">
                <a:latin typeface="Aptos"/>
              </a:defRPr>
            </a:pPr>
            <a:r>
              <a:t>• Bisher wenig bzw. keine Erfahrung mit Testautomatisierung</a:t>
            </a:r>
          </a:p>
          <a:p>
            <a:pPr>
              <a:spcAft>
                <a:spcPts val="1200"/>
              </a:spcAft>
              <a:defRPr sz="1900">
                <a:latin typeface="Aptos"/>
              </a:defRPr>
            </a:pPr>
            <a:r>
              <a:t>• Noch unklar: Wer übernimmt Entwicklung, Wartung und Betrieb?</a:t>
            </a:r>
          </a:p>
          <a:p>
            <a:pPr>
              <a:spcAft>
                <a:spcPts val="1200"/>
              </a:spcAft>
              <a:defRPr sz="1900">
                <a:latin typeface="Aptos"/>
              </a:defRPr>
            </a:pPr>
            <a:r>
              <a:t>• Budget für Werkzeuge ist noch offen</a:t>
            </a:r>
          </a:p>
          <a:p>
            <a:pPr>
              <a:spcAft>
                <a:spcPts val="1200"/>
              </a:spcAft>
              <a:defRPr sz="1900">
                <a:latin typeface="Aptos"/>
              </a:defRPr>
            </a:pPr>
            <a:r>
              <a:t>• Technologie und Produktumfang sind noch nicht bekannt</a:t>
            </a:r>
          </a:p>
          <a:p>
            <a:pPr>
              <a:spcAft>
                <a:spcPts val="1200"/>
              </a:spcAft>
              <a:defRPr sz="1900">
                <a:latin typeface="Aptos"/>
              </a:defRPr>
            </a:pPr>
            <a:r>
              <a:t>• Daher: Keine vorschnelle Tool-Entscheidung – zuerst Anforderungen und Rahmenbedingungen klären</a:t>
            </a:r>
          </a:p>
        </p:txBody>
      </p:sp>
      <p:sp>
        <p:nvSpPr>
          <p:cNvPr id="5" name="TextBox 4"/>
          <p:cNvSpPr txBox="1"/>
          <p:nvPr/>
        </p:nvSpPr>
        <p:spPr>
          <a:xfrm>
            <a:off x="9875520" y="6446520"/>
            <a:ext cx="1554480" cy="228600"/>
          </a:xfrm>
          <a:prstGeom prst="rect">
            <a:avLst/>
          </a:prstGeom>
          <a:noFill/>
        </p:spPr>
        <p:txBody>
          <a:bodyPr wrap="none">
            <a:spAutoFit/>
          </a:bodyPr>
          <a:lstStyle/>
          <a:p>
            <a:pPr algn="r">
              <a:defRPr sz="900"/>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731520"/>
          </a:xfrm>
          <a:prstGeom prst="rect">
            <a:avLst/>
          </a:prstGeom>
          <a:noFill/>
        </p:spPr>
        <p:txBody>
          <a:bodyPr wrap="none">
            <a:spAutoFit/>
          </a:bodyPr>
          <a:lstStyle/>
          <a:p>
            <a:pPr>
              <a:defRPr sz="2700" b="1">
                <a:latin typeface="Aptos Display"/>
              </a:defRPr>
            </a:pPr>
            <a:r>
              <a:t>2. Discovery: Produkt und Testlandschaft verstehen</a:t>
            </a:r>
          </a:p>
        </p:txBody>
      </p:sp>
      <p:sp>
        <p:nvSpPr>
          <p:cNvPr id="3" name="Rectangle 2"/>
          <p:cNvSpPr/>
          <p:nvPr/>
        </p:nvSpPr>
        <p:spPr>
          <a:xfrm>
            <a:off x="640080" y="1170432"/>
            <a:ext cx="914400"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515600" cy="2462213"/>
          </a:xfrm>
          <a:prstGeom prst="rect">
            <a:avLst/>
          </a:prstGeom>
          <a:noFill/>
        </p:spPr>
        <p:txBody>
          <a:bodyPr wrap="square">
            <a:spAutoFit/>
          </a:bodyPr>
          <a:lstStyle/>
          <a:p>
            <a:pPr>
              <a:spcAft>
                <a:spcPts val="1200"/>
              </a:spcAft>
              <a:defRPr sz="1900">
                <a:latin typeface="Aptos"/>
              </a:defRPr>
            </a:pPr>
            <a:r>
              <a:rPr dirty="0"/>
              <a:t>• </a:t>
            </a:r>
            <a:r>
              <a:rPr dirty="0" err="1"/>
              <a:t>Anforderungen</a:t>
            </a:r>
            <a:r>
              <a:rPr dirty="0"/>
              <a:t>, User Stories und Acceptance Criteria </a:t>
            </a:r>
            <a:r>
              <a:rPr dirty="0" err="1"/>
              <a:t>analysieren</a:t>
            </a:r>
            <a:endParaRPr dirty="0"/>
          </a:p>
          <a:p>
            <a:pPr>
              <a:spcAft>
                <a:spcPts val="1200"/>
              </a:spcAft>
              <a:defRPr sz="1900">
                <a:latin typeface="Aptos"/>
              </a:defRPr>
            </a:pPr>
            <a:r>
              <a:rPr dirty="0"/>
              <a:t>• </a:t>
            </a:r>
            <a:r>
              <a:rPr dirty="0" err="1"/>
              <a:t>Produkt</a:t>
            </a:r>
            <a:r>
              <a:rPr dirty="0"/>
              <a:t> </a:t>
            </a:r>
            <a:r>
              <a:rPr dirty="0" err="1"/>
              <a:t>zunächst</a:t>
            </a:r>
            <a:r>
              <a:rPr dirty="0"/>
              <a:t> </a:t>
            </a:r>
            <a:r>
              <a:rPr dirty="0" err="1"/>
              <a:t>explorativ</a:t>
            </a:r>
            <a:r>
              <a:rPr dirty="0"/>
              <a:t>/</a:t>
            </a:r>
            <a:r>
              <a:rPr dirty="0" err="1"/>
              <a:t>manuell</a:t>
            </a:r>
            <a:r>
              <a:rPr dirty="0"/>
              <a:t> </a:t>
            </a:r>
            <a:r>
              <a:rPr dirty="0" err="1"/>
              <a:t>testen</a:t>
            </a:r>
            <a:r>
              <a:rPr dirty="0"/>
              <a:t>, um </a:t>
            </a:r>
            <a:r>
              <a:rPr dirty="0" err="1"/>
              <a:t>Risiken</a:t>
            </a:r>
            <a:r>
              <a:rPr dirty="0"/>
              <a:t> und </a:t>
            </a:r>
            <a:r>
              <a:rPr dirty="0" err="1"/>
              <a:t>kritische</a:t>
            </a:r>
            <a:r>
              <a:rPr dirty="0"/>
              <a:t> </a:t>
            </a:r>
            <a:r>
              <a:rPr dirty="0" err="1"/>
              <a:t>Geschäftsprozesse</a:t>
            </a:r>
            <a:r>
              <a:rPr dirty="0"/>
              <a:t> </a:t>
            </a:r>
            <a:r>
              <a:rPr dirty="0" err="1"/>
              <a:t>zu</a:t>
            </a:r>
            <a:r>
              <a:rPr dirty="0"/>
              <a:t> verstehen</a:t>
            </a:r>
          </a:p>
          <a:p>
            <a:pPr>
              <a:spcAft>
                <a:spcPts val="1200"/>
              </a:spcAft>
              <a:defRPr sz="1900">
                <a:latin typeface="Aptos"/>
              </a:defRPr>
            </a:pPr>
            <a:r>
              <a:rPr dirty="0"/>
              <a:t>• </a:t>
            </a:r>
            <a:r>
              <a:rPr dirty="0" err="1"/>
              <a:t>Technologien</a:t>
            </a:r>
            <a:r>
              <a:rPr dirty="0"/>
              <a:t> </a:t>
            </a:r>
            <a:r>
              <a:rPr dirty="0" err="1"/>
              <a:t>klären</a:t>
            </a:r>
            <a:r>
              <a:rPr dirty="0"/>
              <a:t>: Web, API/Backend, Mobile, Desktop</a:t>
            </a:r>
            <a:r>
              <a:rPr lang="de-DE" dirty="0"/>
              <a:t> </a:t>
            </a:r>
            <a:r>
              <a:rPr lang="de-DE" dirty="0" err="1"/>
              <a:t>etc</a:t>
            </a:r>
            <a:endParaRPr lang="en-GB" dirty="0"/>
          </a:p>
          <a:p>
            <a:pPr>
              <a:spcAft>
                <a:spcPts val="1200"/>
              </a:spcAft>
              <a:defRPr sz="1900">
                <a:latin typeface="Aptos"/>
              </a:defRPr>
            </a:pPr>
            <a:r>
              <a:rPr lang="en-GB" dirty="0"/>
              <a:t>• </a:t>
            </a:r>
            <a:r>
              <a:rPr lang="en-GB" dirty="0" err="1"/>
              <a:t>Bestehende</a:t>
            </a:r>
            <a:r>
              <a:rPr lang="en-GB" dirty="0"/>
              <a:t> </a:t>
            </a:r>
            <a:r>
              <a:rPr lang="en-GB" dirty="0" err="1"/>
              <a:t>Testfälle</a:t>
            </a:r>
            <a:r>
              <a:rPr lang="en-GB" dirty="0"/>
              <a:t>, CI/CD, </a:t>
            </a:r>
            <a:r>
              <a:rPr lang="en-GB" dirty="0" err="1"/>
              <a:t>Versionsverwaltung</a:t>
            </a:r>
            <a:r>
              <a:rPr lang="en-GB" dirty="0"/>
              <a:t> und </a:t>
            </a:r>
            <a:r>
              <a:rPr lang="en-GB" dirty="0" err="1"/>
              <a:t>Testdaten</a:t>
            </a:r>
            <a:r>
              <a:rPr lang="en-GB" dirty="0"/>
              <a:t> </a:t>
            </a:r>
            <a:r>
              <a:rPr lang="en-GB" dirty="0" err="1"/>
              <a:t>untersuchen</a:t>
            </a:r>
            <a:endParaRPr lang="en-GB" dirty="0"/>
          </a:p>
          <a:p>
            <a:pPr>
              <a:spcAft>
                <a:spcPts val="1200"/>
              </a:spcAft>
              <a:defRPr sz="1900">
                <a:latin typeface="Aptos"/>
              </a:defRPr>
            </a:pPr>
            <a:r>
              <a:rPr dirty="0"/>
              <a:t>• Ziel: </a:t>
            </a:r>
            <a:r>
              <a:rPr dirty="0" err="1"/>
              <a:t>Automatisierung</a:t>
            </a:r>
            <a:r>
              <a:rPr dirty="0"/>
              <a:t> </a:t>
            </a:r>
            <a:r>
              <a:rPr dirty="0" err="1"/>
              <a:t>dort</a:t>
            </a:r>
            <a:r>
              <a:rPr dirty="0"/>
              <a:t> </a:t>
            </a:r>
            <a:r>
              <a:rPr dirty="0" err="1"/>
              <a:t>einsetzen</a:t>
            </a:r>
            <a:r>
              <a:rPr dirty="0"/>
              <a:t>, wo </a:t>
            </a:r>
            <a:r>
              <a:rPr dirty="0" err="1"/>
              <a:t>sie</a:t>
            </a:r>
            <a:r>
              <a:rPr dirty="0"/>
              <a:t> </a:t>
            </a:r>
            <a:r>
              <a:rPr dirty="0" err="1"/>
              <a:t>einen</a:t>
            </a:r>
            <a:r>
              <a:rPr dirty="0"/>
              <a:t> </a:t>
            </a:r>
            <a:r>
              <a:rPr dirty="0" err="1"/>
              <a:t>messbaren</a:t>
            </a:r>
            <a:r>
              <a:rPr dirty="0"/>
              <a:t> </a:t>
            </a:r>
            <a:r>
              <a:rPr dirty="0" err="1"/>
              <a:t>Nutzen</a:t>
            </a:r>
            <a:r>
              <a:rPr dirty="0"/>
              <a:t> </a:t>
            </a:r>
            <a:r>
              <a:rPr dirty="0" err="1"/>
              <a:t>bringt</a:t>
            </a:r>
            <a:endParaRPr dirty="0"/>
          </a:p>
        </p:txBody>
      </p:sp>
      <p:sp>
        <p:nvSpPr>
          <p:cNvPr id="5" name="TextBox 4"/>
          <p:cNvSpPr txBox="1"/>
          <p:nvPr/>
        </p:nvSpPr>
        <p:spPr>
          <a:xfrm>
            <a:off x="9875520" y="6446520"/>
            <a:ext cx="1554480" cy="228600"/>
          </a:xfrm>
          <a:prstGeom prst="rect">
            <a:avLst/>
          </a:prstGeom>
          <a:noFill/>
        </p:spPr>
        <p:txBody>
          <a:bodyPr wrap="none">
            <a:spAutoFit/>
          </a:bodyPr>
          <a:lstStyle/>
          <a:p>
            <a:pPr algn="r">
              <a:defRPr sz="900"/>
            </a:pPr>
            <a: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731520"/>
          </a:xfrm>
          <a:prstGeom prst="rect">
            <a:avLst/>
          </a:prstGeom>
          <a:noFill/>
        </p:spPr>
        <p:txBody>
          <a:bodyPr wrap="none">
            <a:spAutoFit/>
          </a:bodyPr>
          <a:lstStyle/>
          <a:p>
            <a:pPr>
              <a:defRPr sz="2700" b="1">
                <a:latin typeface="Aptos Display"/>
              </a:defRPr>
            </a:pPr>
            <a:r>
              <a:t>3. Auswahlkriterien für ein Werkzeug</a:t>
            </a:r>
          </a:p>
        </p:txBody>
      </p:sp>
      <p:sp>
        <p:nvSpPr>
          <p:cNvPr id="3" name="Rectangle 2"/>
          <p:cNvSpPr/>
          <p:nvPr/>
        </p:nvSpPr>
        <p:spPr>
          <a:xfrm>
            <a:off x="640080" y="1170432"/>
            <a:ext cx="914400"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515600" cy="2616101"/>
          </a:xfrm>
          <a:prstGeom prst="rect">
            <a:avLst/>
          </a:prstGeom>
          <a:noFill/>
        </p:spPr>
        <p:txBody>
          <a:bodyPr wrap="square">
            <a:spAutoFit/>
          </a:bodyPr>
          <a:lstStyle/>
          <a:p>
            <a:pPr>
              <a:spcAft>
                <a:spcPts val="1200"/>
              </a:spcAft>
              <a:defRPr sz="1900">
                <a:latin typeface="Aptos"/>
              </a:defRPr>
            </a:pPr>
            <a:r>
              <a:rPr dirty="0"/>
              <a:t>• </a:t>
            </a:r>
            <a:r>
              <a:rPr dirty="0" err="1"/>
              <a:t>Technische</a:t>
            </a:r>
            <a:r>
              <a:rPr dirty="0"/>
              <a:t> </a:t>
            </a:r>
            <a:r>
              <a:rPr dirty="0" err="1"/>
              <a:t>Eignung</a:t>
            </a:r>
            <a:r>
              <a:rPr dirty="0"/>
              <a:t>: </a:t>
            </a:r>
            <a:r>
              <a:rPr dirty="0" err="1"/>
              <a:t>Unterstützte</a:t>
            </a:r>
            <a:r>
              <a:rPr dirty="0"/>
              <a:t> </a:t>
            </a:r>
            <a:r>
              <a:rPr dirty="0" err="1"/>
              <a:t>Plattformen</a:t>
            </a:r>
            <a:r>
              <a:rPr dirty="0"/>
              <a:t>, Browser, APIs und </a:t>
            </a:r>
            <a:r>
              <a:rPr lang="en-GB" dirty="0"/>
              <a:t>Backend</a:t>
            </a:r>
          </a:p>
          <a:p>
            <a:pPr>
              <a:spcAft>
                <a:spcPts val="1200"/>
              </a:spcAft>
              <a:defRPr sz="1900">
                <a:latin typeface="Aptos"/>
              </a:defRPr>
            </a:pPr>
            <a:r>
              <a:rPr lang="en-GB" dirty="0"/>
              <a:t>• </a:t>
            </a:r>
            <a:r>
              <a:rPr lang="en-GB" dirty="0" err="1"/>
              <a:t>Bedienbarkeit</a:t>
            </a:r>
            <a:r>
              <a:rPr lang="en-GB" dirty="0"/>
              <a:t>: </a:t>
            </a:r>
            <a:r>
              <a:rPr lang="en-GB" dirty="0" err="1"/>
              <a:t>Lernkurve</a:t>
            </a:r>
            <a:r>
              <a:rPr lang="en-GB" dirty="0"/>
              <a:t> für Junior/Senior Tester und </a:t>
            </a:r>
            <a:r>
              <a:rPr lang="en-GB" dirty="0" err="1"/>
              <a:t>Entwickler</a:t>
            </a:r>
            <a:endParaRPr lang="en-GB" dirty="0"/>
          </a:p>
          <a:p>
            <a:pPr>
              <a:spcAft>
                <a:spcPts val="1200"/>
              </a:spcAft>
              <a:defRPr sz="1900">
                <a:latin typeface="Aptos"/>
              </a:defRPr>
            </a:pPr>
            <a:r>
              <a:rPr dirty="0"/>
              <a:t>• </a:t>
            </a:r>
            <a:r>
              <a:rPr dirty="0" err="1"/>
              <a:t>Wartbarkeit</a:t>
            </a:r>
            <a:r>
              <a:rPr dirty="0"/>
              <a:t>: stabile </a:t>
            </a:r>
            <a:r>
              <a:rPr dirty="0" err="1"/>
              <a:t>Selektoren</a:t>
            </a:r>
            <a:r>
              <a:rPr dirty="0"/>
              <a:t>, </a:t>
            </a:r>
            <a:r>
              <a:rPr dirty="0" err="1"/>
              <a:t>Wiederverwendbarkeit</a:t>
            </a:r>
            <a:r>
              <a:rPr dirty="0"/>
              <a:t>, </a:t>
            </a:r>
            <a:r>
              <a:rPr dirty="0" err="1"/>
              <a:t>klare</a:t>
            </a:r>
            <a:r>
              <a:rPr dirty="0"/>
              <a:t> </a:t>
            </a:r>
            <a:r>
              <a:rPr dirty="0" err="1"/>
              <a:t>Architektur</a:t>
            </a:r>
            <a:endParaRPr dirty="0"/>
          </a:p>
          <a:p>
            <a:pPr>
              <a:spcAft>
                <a:spcPts val="1200"/>
              </a:spcAft>
              <a:defRPr sz="1900">
                <a:latin typeface="Aptos"/>
              </a:defRPr>
            </a:pPr>
            <a:r>
              <a:rPr dirty="0"/>
              <a:t>• CI/CD-</a:t>
            </a:r>
            <a:r>
              <a:rPr dirty="0" err="1"/>
              <a:t>Fähigkeit</a:t>
            </a:r>
            <a:r>
              <a:rPr dirty="0"/>
              <a:t>: Headless-</a:t>
            </a:r>
            <a:r>
              <a:rPr dirty="0" err="1"/>
              <a:t>Ausführung</a:t>
            </a:r>
            <a:r>
              <a:rPr dirty="0"/>
              <a:t>, Reports, </a:t>
            </a:r>
            <a:r>
              <a:rPr dirty="0" err="1"/>
              <a:t>Parallelisierung</a:t>
            </a:r>
            <a:endParaRPr dirty="0"/>
          </a:p>
          <a:p>
            <a:pPr>
              <a:spcAft>
                <a:spcPts val="1200"/>
              </a:spcAft>
              <a:defRPr sz="1900">
                <a:latin typeface="Aptos"/>
              </a:defRPr>
            </a:pPr>
            <a:r>
              <a:rPr dirty="0"/>
              <a:t>• Community &amp; Support: </a:t>
            </a:r>
            <a:r>
              <a:rPr dirty="0" err="1"/>
              <a:t>Dokumentation</a:t>
            </a:r>
            <a:r>
              <a:rPr dirty="0"/>
              <a:t>, </a:t>
            </a:r>
            <a:r>
              <a:rPr dirty="0" err="1"/>
              <a:t>Ökosystem</a:t>
            </a:r>
            <a:r>
              <a:rPr dirty="0"/>
              <a:t>, </a:t>
            </a:r>
            <a:r>
              <a:rPr dirty="0" err="1"/>
              <a:t>kommerzieller</a:t>
            </a:r>
            <a:r>
              <a:rPr dirty="0"/>
              <a:t> Support</a:t>
            </a:r>
          </a:p>
          <a:p>
            <a:pPr>
              <a:spcAft>
                <a:spcPts val="1200"/>
              </a:spcAft>
              <a:defRPr sz="1900">
                <a:latin typeface="Aptos"/>
              </a:defRPr>
            </a:pPr>
            <a:r>
              <a:rPr dirty="0"/>
              <a:t>• Kosten: </a:t>
            </a:r>
            <a:r>
              <a:rPr dirty="0" err="1"/>
              <a:t>Lizenz</a:t>
            </a:r>
            <a:r>
              <a:rPr dirty="0"/>
              <a:t>, </a:t>
            </a:r>
            <a:r>
              <a:rPr dirty="0" err="1"/>
              <a:t>Infrastruktur</a:t>
            </a:r>
            <a:r>
              <a:rPr dirty="0"/>
              <a:t>, </a:t>
            </a:r>
            <a:r>
              <a:rPr dirty="0" err="1"/>
              <a:t>Schulung</a:t>
            </a:r>
            <a:r>
              <a:rPr dirty="0"/>
              <a:t> und </a:t>
            </a:r>
            <a:r>
              <a:rPr dirty="0" err="1"/>
              <a:t>vor</a:t>
            </a:r>
            <a:r>
              <a:rPr dirty="0"/>
              <a:t> </a:t>
            </a:r>
            <a:r>
              <a:rPr dirty="0" err="1"/>
              <a:t>allem</a:t>
            </a:r>
            <a:r>
              <a:rPr dirty="0"/>
              <a:t> </a:t>
            </a:r>
            <a:r>
              <a:rPr dirty="0" err="1"/>
              <a:t>laufender</a:t>
            </a:r>
            <a:r>
              <a:rPr dirty="0"/>
              <a:t> </a:t>
            </a:r>
            <a:r>
              <a:rPr dirty="0" err="1"/>
              <a:t>Wartungsaufwand</a:t>
            </a:r>
            <a:endParaRPr dirty="0"/>
          </a:p>
        </p:txBody>
      </p:sp>
      <p:sp>
        <p:nvSpPr>
          <p:cNvPr id="5" name="TextBox 4"/>
          <p:cNvSpPr txBox="1"/>
          <p:nvPr/>
        </p:nvSpPr>
        <p:spPr>
          <a:xfrm>
            <a:off x="9875520" y="6446520"/>
            <a:ext cx="1554480" cy="228600"/>
          </a:xfrm>
          <a:prstGeom prst="rect">
            <a:avLst/>
          </a:prstGeom>
          <a:noFill/>
        </p:spPr>
        <p:txBody>
          <a:bodyPr wrap="none">
            <a:spAutoFit/>
          </a:bodyPr>
          <a:lstStyle/>
          <a:p>
            <a:pPr algn="r">
              <a:defRPr sz="900"/>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2710550" cy="507831"/>
          </a:xfrm>
          <a:prstGeom prst="rect">
            <a:avLst/>
          </a:prstGeom>
          <a:noFill/>
        </p:spPr>
        <p:txBody>
          <a:bodyPr wrap="none">
            <a:spAutoFit/>
          </a:bodyPr>
          <a:lstStyle/>
          <a:p>
            <a:pPr>
              <a:defRPr sz="2700" b="1">
                <a:latin typeface="Aptos Display"/>
              </a:defRPr>
            </a:pPr>
            <a:r>
              <a:rPr dirty="0"/>
              <a:t>4. </a:t>
            </a:r>
            <a:r>
              <a:rPr dirty="0" err="1"/>
              <a:t>Mögliche</a:t>
            </a:r>
            <a:r>
              <a:rPr dirty="0"/>
              <a:t> Tool</a:t>
            </a:r>
            <a:r>
              <a:rPr lang="de-DE" dirty="0"/>
              <a:t>s</a:t>
            </a:r>
            <a:endParaRPr dirty="0"/>
          </a:p>
        </p:txBody>
      </p:sp>
      <p:sp>
        <p:nvSpPr>
          <p:cNvPr id="3" name="Rectangle 2"/>
          <p:cNvSpPr/>
          <p:nvPr/>
        </p:nvSpPr>
        <p:spPr>
          <a:xfrm>
            <a:off x="640080" y="1170432"/>
            <a:ext cx="914400"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515600" cy="2169825"/>
          </a:xfrm>
          <a:prstGeom prst="rect">
            <a:avLst/>
          </a:prstGeom>
          <a:noFill/>
        </p:spPr>
        <p:txBody>
          <a:bodyPr wrap="square">
            <a:spAutoFit/>
          </a:bodyPr>
          <a:lstStyle/>
          <a:p>
            <a:pPr>
              <a:spcAft>
                <a:spcPts val="1200"/>
              </a:spcAft>
              <a:defRPr sz="1900">
                <a:latin typeface="Aptos"/>
              </a:defRPr>
            </a:pPr>
            <a:r>
              <a:rPr dirty="0"/>
              <a:t>• Web: Playwright </a:t>
            </a:r>
            <a:r>
              <a:rPr dirty="0" err="1"/>
              <a:t>oder</a:t>
            </a:r>
            <a:r>
              <a:rPr dirty="0"/>
              <a:t> Selenium – </a:t>
            </a:r>
            <a:r>
              <a:rPr dirty="0" err="1"/>
              <a:t>abhängig</a:t>
            </a:r>
            <a:r>
              <a:rPr dirty="0"/>
              <a:t> von Technologie, Team</a:t>
            </a:r>
          </a:p>
          <a:p>
            <a:pPr>
              <a:spcAft>
                <a:spcPts val="1200"/>
              </a:spcAft>
              <a:defRPr sz="1900">
                <a:latin typeface="Aptos"/>
              </a:defRPr>
            </a:pPr>
            <a:r>
              <a:rPr dirty="0"/>
              <a:t>• API/Backend: REST Assured </a:t>
            </a:r>
            <a:r>
              <a:rPr dirty="0" err="1"/>
              <a:t>bei</a:t>
            </a:r>
            <a:r>
              <a:rPr dirty="0"/>
              <a:t> Java-</a:t>
            </a:r>
            <a:r>
              <a:rPr dirty="0" err="1"/>
              <a:t>Fokus</a:t>
            </a:r>
            <a:r>
              <a:rPr dirty="0"/>
              <a:t>; </a:t>
            </a:r>
            <a:r>
              <a:rPr dirty="0" err="1"/>
              <a:t>alternativ</a:t>
            </a:r>
            <a:r>
              <a:rPr dirty="0"/>
              <a:t> API-</a:t>
            </a:r>
            <a:r>
              <a:rPr dirty="0" err="1"/>
              <a:t>Funktionen</a:t>
            </a:r>
            <a:r>
              <a:rPr dirty="0"/>
              <a:t> </a:t>
            </a:r>
            <a:r>
              <a:rPr dirty="0" err="1"/>
              <a:t>eines</a:t>
            </a:r>
            <a:r>
              <a:rPr dirty="0"/>
              <a:t> E2E-Frameworks</a:t>
            </a:r>
          </a:p>
          <a:p>
            <a:pPr>
              <a:spcAft>
                <a:spcPts val="1200"/>
              </a:spcAft>
              <a:defRPr sz="1900">
                <a:latin typeface="Aptos"/>
              </a:defRPr>
            </a:pPr>
            <a:r>
              <a:rPr dirty="0"/>
              <a:t>• Mobile: Appium; </a:t>
            </a:r>
            <a:r>
              <a:rPr dirty="0" err="1"/>
              <a:t>Geräte</a:t>
            </a:r>
            <a:r>
              <a:rPr dirty="0"/>
              <a:t>-/</a:t>
            </a:r>
            <a:r>
              <a:rPr dirty="0" err="1"/>
              <a:t>Simulatorstrategie</a:t>
            </a:r>
            <a:r>
              <a:rPr dirty="0"/>
              <a:t> und </a:t>
            </a:r>
            <a:r>
              <a:rPr dirty="0" err="1"/>
              <a:t>ggf</a:t>
            </a:r>
            <a:r>
              <a:rPr dirty="0"/>
              <a:t>. Device Cloud </a:t>
            </a:r>
            <a:r>
              <a:rPr dirty="0" err="1"/>
              <a:t>berücksichtigen</a:t>
            </a:r>
            <a:endParaRPr dirty="0"/>
          </a:p>
          <a:p>
            <a:pPr>
              <a:spcAft>
                <a:spcPts val="1200"/>
              </a:spcAft>
              <a:defRPr sz="1900">
                <a:latin typeface="Aptos"/>
              </a:defRPr>
            </a:pPr>
            <a:r>
              <a:rPr dirty="0"/>
              <a:t>• Container: Docker für </a:t>
            </a:r>
            <a:r>
              <a:rPr dirty="0" err="1"/>
              <a:t>reproduzierbare</a:t>
            </a:r>
            <a:r>
              <a:rPr dirty="0"/>
              <a:t> </a:t>
            </a:r>
            <a:r>
              <a:rPr dirty="0" err="1"/>
              <a:t>Testumgebungen</a:t>
            </a:r>
            <a:endParaRPr dirty="0"/>
          </a:p>
          <a:p>
            <a:pPr>
              <a:spcAft>
                <a:spcPts val="1200"/>
              </a:spcAft>
              <a:defRPr sz="1900">
                <a:latin typeface="Aptos"/>
              </a:defRPr>
            </a:pPr>
            <a:r>
              <a:rPr dirty="0"/>
              <a:t>• Wichtig: Too</a:t>
            </a:r>
            <a:r>
              <a:rPr lang="de-DE" dirty="0"/>
              <a:t>l- Auswahl </a:t>
            </a:r>
            <a:r>
              <a:rPr dirty="0"/>
              <a:t>– die </a:t>
            </a:r>
            <a:r>
              <a:rPr dirty="0" err="1"/>
              <a:t>fachliche</a:t>
            </a:r>
            <a:r>
              <a:rPr dirty="0"/>
              <a:t> und </a:t>
            </a:r>
            <a:r>
              <a:rPr dirty="0" err="1"/>
              <a:t>technische</a:t>
            </a:r>
            <a:r>
              <a:rPr dirty="0"/>
              <a:t> </a:t>
            </a:r>
            <a:r>
              <a:rPr dirty="0" err="1"/>
              <a:t>Eignung</a:t>
            </a:r>
            <a:r>
              <a:rPr dirty="0"/>
              <a:t> </a:t>
            </a:r>
            <a:r>
              <a:rPr dirty="0" err="1"/>
              <a:t>entscheidet</a:t>
            </a:r>
            <a:endParaRPr dirty="0"/>
          </a:p>
        </p:txBody>
      </p:sp>
      <p:sp>
        <p:nvSpPr>
          <p:cNvPr id="5" name="TextBox 4"/>
          <p:cNvSpPr txBox="1"/>
          <p:nvPr/>
        </p:nvSpPr>
        <p:spPr>
          <a:xfrm>
            <a:off x="9875520" y="6446520"/>
            <a:ext cx="1554480" cy="228600"/>
          </a:xfrm>
          <a:prstGeom prst="rect">
            <a:avLst/>
          </a:prstGeom>
          <a:noFill/>
        </p:spPr>
        <p:txBody>
          <a:bodyPr wrap="none">
            <a:spAutoFit/>
          </a:bodyPr>
          <a:lstStyle/>
          <a:p>
            <a:pPr algn="r">
              <a:defRPr sz="900"/>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731520"/>
          </a:xfrm>
          <a:prstGeom prst="rect">
            <a:avLst/>
          </a:prstGeom>
          <a:noFill/>
        </p:spPr>
        <p:txBody>
          <a:bodyPr wrap="none">
            <a:spAutoFit/>
          </a:bodyPr>
          <a:lstStyle/>
          <a:p>
            <a:pPr>
              <a:defRPr sz="2700" b="1">
                <a:latin typeface="Aptos Display"/>
              </a:defRPr>
            </a:pPr>
            <a:r>
              <a:t>5. Warum ich Playwright als Kandidaten prüfen würde</a:t>
            </a:r>
          </a:p>
        </p:txBody>
      </p:sp>
      <p:sp>
        <p:nvSpPr>
          <p:cNvPr id="3" name="Rectangle 2"/>
          <p:cNvSpPr/>
          <p:nvPr/>
        </p:nvSpPr>
        <p:spPr>
          <a:xfrm>
            <a:off x="640080" y="1170432"/>
            <a:ext cx="914400"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515600" cy="4754880"/>
          </a:xfrm>
          <a:prstGeom prst="rect">
            <a:avLst/>
          </a:prstGeom>
          <a:noFill/>
        </p:spPr>
        <p:txBody>
          <a:bodyPr wrap="square">
            <a:spAutoFit/>
          </a:bodyPr>
          <a:lstStyle/>
          <a:p>
            <a:pPr>
              <a:spcAft>
                <a:spcPts val="1200"/>
              </a:spcAft>
              <a:defRPr sz="1900">
                <a:latin typeface="Aptos"/>
              </a:defRPr>
            </a:pPr>
            <a:r>
              <a:t>• Modernes Framework für Web-E2E mit guter Developer Experience</a:t>
            </a:r>
          </a:p>
          <a:p>
            <a:pPr>
              <a:spcAft>
                <a:spcPts val="1200"/>
              </a:spcAft>
              <a:defRPr sz="1900">
                <a:latin typeface="Aptos"/>
              </a:defRPr>
            </a:pPr>
            <a:r>
              <a:t>• Geeignet für mehrere Browser und parallele Ausführung</a:t>
            </a:r>
          </a:p>
          <a:p>
            <a:pPr>
              <a:spcAft>
                <a:spcPts val="1200"/>
              </a:spcAft>
              <a:defRPr sz="1900">
                <a:latin typeface="Aptos"/>
              </a:defRPr>
            </a:pPr>
            <a:r>
              <a:t>• Trace-/Debugging-Funktionen erleichtern Analyse von Fehlern</a:t>
            </a:r>
          </a:p>
          <a:p>
            <a:pPr>
              <a:spcAft>
                <a:spcPts val="1200"/>
              </a:spcAft>
              <a:defRPr sz="1900">
                <a:latin typeface="Aptos"/>
              </a:defRPr>
            </a:pPr>
            <a:r>
              <a:t>• Gut in CI/CD integrierbar</a:t>
            </a:r>
          </a:p>
          <a:p>
            <a:pPr>
              <a:spcAft>
                <a:spcPts val="1200"/>
              </a:spcAft>
              <a:defRPr sz="1900">
                <a:latin typeface="Aptos"/>
              </a:defRPr>
            </a:pPr>
            <a:r>
              <a:t>• Testcode kann für unterschiedliche Erfahrungsstufen relativ zugänglich sein</a:t>
            </a:r>
          </a:p>
          <a:p>
            <a:pPr>
              <a:spcAft>
                <a:spcPts val="1200"/>
              </a:spcAft>
              <a:defRPr sz="1900">
                <a:latin typeface="Aptos"/>
              </a:defRPr>
            </a:pPr>
            <a:r>
              <a:t>• Aber: Empfehlung erst nach Discovery und einem kleinen Proof of Concept</a:t>
            </a:r>
          </a:p>
        </p:txBody>
      </p:sp>
      <p:sp>
        <p:nvSpPr>
          <p:cNvPr id="5" name="TextBox 4"/>
          <p:cNvSpPr txBox="1"/>
          <p:nvPr/>
        </p:nvSpPr>
        <p:spPr>
          <a:xfrm>
            <a:off x="9875520" y="6446520"/>
            <a:ext cx="1554480" cy="228600"/>
          </a:xfrm>
          <a:prstGeom prst="rect">
            <a:avLst/>
          </a:prstGeom>
          <a:noFill/>
        </p:spPr>
        <p:txBody>
          <a:bodyPr wrap="none">
            <a:spAutoFit/>
          </a:bodyPr>
          <a:lstStyle/>
          <a:p>
            <a:pPr algn="r">
              <a:defRPr sz="900"/>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731520"/>
          </a:xfrm>
          <a:prstGeom prst="rect">
            <a:avLst/>
          </a:prstGeom>
          <a:noFill/>
        </p:spPr>
        <p:txBody>
          <a:bodyPr wrap="none">
            <a:spAutoFit/>
          </a:bodyPr>
          <a:lstStyle/>
          <a:p>
            <a:pPr>
              <a:defRPr sz="2700" b="1">
                <a:latin typeface="Aptos Display"/>
              </a:defRPr>
            </a:pPr>
            <a:r>
              <a:t>6. BDD / Cucumber – sinnvoll, aber nicht automatisch</a:t>
            </a:r>
          </a:p>
        </p:txBody>
      </p:sp>
      <p:sp>
        <p:nvSpPr>
          <p:cNvPr id="3" name="Rectangle 2"/>
          <p:cNvSpPr/>
          <p:nvPr/>
        </p:nvSpPr>
        <p:spPr>
          <a:xfrm>
            <a:off x="640080" y="1170432"/>
            <a:ext cx="914400"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515600" cy="4754880"/>
          </a:xfrm>
          <a:prstGeom prst="rect">
            <a:avLst/>
          </a:prstGeom>
          <a:noFill/>
        </p:spPr>
        <p:txBody>
          <a:bodyPr wrap="square">
            <a:spAutoFit/>
          </a:bodyPr>
          <a:lstStyle/>
          <a:p>
            <a:pPr>
              <a:spcAft>
                <a:spcPts val="1200"/>
              </a:spcAft>
              <a:defRPr sz="1900">
                <a:latin typeface="Aptos"/>
              </a:defRPr>
            </a:pPr>
            <a:r>
              <a:t>• Vorteil: Gemeinsame Sprache zwischen Business, Product Owner, Test und Entwicklung</a:t>
            </a:r>
          </a:p>
          <a:p>
            <a:pPr>
              <a:spcAft>
                <a:spcPts val="1200"/>
              </a:spcAft>
              <a:defRPr sz="1900">
                <a:latin typeface="Aptos"/>
              </a:defRPr>
            </a:pPr>
            <a:r>
              <a:t>• Szenarien können fachlich verständlich formuliert werden</a:t>
            </a:r>
          </a:p>
          <a:p>
            <a:pPr>
              <a:spcAft>
                <a:spcPts val="1200"/>
              </a:spcAft>
              <a:defRPr sz="1900">
                <a:latin typeface="Aptos"/>
              </a:defRPr>
            </a:pPr>
            <a:r>
              <a:t>• Besonders sinnvoll bei komplexen Geschäftsregeln und vielen Stakeholdern</a:t>
            </a:r>
          </a:p>
          <a:p>
            <a:pPr>
              <a:spcAft>
                <a:spcPts val="1200"/>
              </a:spcAft>
              <a:defRPr sz="1900">
                <a:latin typeface="Aptos"/>
              </a:defRPr>
            </a:pPr>
            <a:r>
              <a:t>• Risiko: Zusätzliche Abstraktionsschicht und Pflegeaufwand</a:t>
            </a:r>
          </a:p>
          <a:p>
            <a:pPr>
              <a:spcAft>
                <a:spcPts val="1200"/>
              </a:spcAft>
              <a:defRPr sz="1900">
                <a:latin typeface="Aptos"/>
              </a:defRPr>
            </a:pPr>
            <a:r>
              <a:t>• Entscheidung nach Bedarf: BDD nutzen, wenn es die Kommunikation verbessert – nicht nur als Testautomatisierungsstandard</a:t>
            </a:r>
          </a:p>
        </p:txBody>
      </p:sp>
      <p:sp>
        <p:nvSpPr>
          <p:cNvPr id="5" name="TextBox 4"/>
          <p:cNvSpPr txBox="1"/>
          <p:nvPr/>
        </p:nvSpPr>
        <p:spPr>
          <a:xfrm>
            <a:off x="9875520" y="6446520"/>
            <a:ext cx="1554480" cy="228600"/>
          </a:xfrm>
          <a:prstGeom prst="rect">
            <a:avLst/>
          </a:prstGeom>
          <a:noFill/>
        </p:spPr>
        <p:txBody>
          <a:bodyPr wrap="none">
            <a:spAutoFit/>
          </a:bodyPr>
          <a:lstStyle/>
          <a:p>
            <a:pPr algn="r">
              <a:defRPr sz="900"/>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731520"/>
          </a:xfrm>
          <a:prstGeom prst="rect">
            <a:avLst/>
          </a:prstGeom>
          <a:noFill/>
        </p:spPr>
        <p:txBody>
          <a:bodyPr wrap="none">
            <a:spAutoFit/>
          </a:bodyPr>
          <a:lstStyle/>
          <a:p>
            <a:pPr>
              <a:defRPr sz="2700" b="1">
                <a:latin typeface="Aptos Display"/>
              </a:defRPr>
            </a:pPr>
            <a:r>
              <a:t>7. Wer automatisiert? Rollen und Verantwortlichkeiten</a:t>
            </a:r>
          </a:p>
        </p:txBody>
      </p:sp>
      <p:sp>
        <p:nvSpPr>
          <p:cNvPr id="3" name="Rectangle 2"/>
          <p:cNvSpPr/>
          <p:nvPr/>
        </p:nvSpPr>
        <p:spPr>
          <a:xfrm>
            <a:off x="640080" y="1170432"/>
            <a:ext cx="914400"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515600" cy="2169825"/>
          </a:xfrm>
          <a:prstGeom prst="rect">
            <a:avLst/>
          </a:prstGeom>
          <a:noFill/>
        </p:spPr>
        <p:txBody>
          <a:bodyPr wrap="square">
            <a:spAutoFit/>
          </a:bodyPr>
          <a:lstStyle/>
          <a:p>
            <a:pPr>
              <a:spcAft>
                <a:spcPts val="1200"/>
              </a:spcAft>
              <a:defRPr sz="1900">
                <a:latin typeface="Aptos"/>
              </a:defRPr>
            </a:pPr>
            <a:r>
              <a:rPr dirty="0"/>
              <a:t>• Test Engineer / QA: </a:t>
            </a:r>
            <a:r>
              <a:rPr dirty="0" err="1"/>
              <a:t>Testdesign</a:t>
            </a:r>
            <a:r>
              <a:rPr dirty="0"/>
              <a:t>, </a:t>
            </a:r>
            <a:r>
              <a:rPr dirty="0" err="1"/>
              <a:t>Automatisierung</a:t>
            </a:r>
            <a:r>
              <a:rPr dirty="0"/>
              <a:t>, </a:t>
            </a:r>
            <a:r>
              <a:rPr dirty="0" err="1"/>
              <a:t>Wartung</a:t>
            </a:r>
            <a:r>
              <a:rPr dirty="0"/>
              <a:t> und </a:t>
            </a:r>
            <a:r>
              <a:rPr dirty="0" err="1"/>
              <a:t>Analyse</a:t>
            </a:r>
            <a:endParaRPr dirty="0"/>
          </a:p>
          <a:p>
            <a:pPr>
              <a:spcAft>
                <a:spcPts val="1200"/>
              </a:spcAft>
              <a:defRPr sz="1900">
                <a:latin typeface="Aptos"/>
              </a:defRPr>
            </a:pPr>
            <a:r>
              <a:rPr dirty="0"/>
              <a:t>• </a:t>
            </a:r>
            <a:r>
              <a:rPr lang="de-DE" dirty="0"/>
              <a:t>Developer / QA</a:t>
            </a:r>
            <a:r>
              <a:rPr dirty="0"/>
              <a:t>: </a:t>
            </a:r>
            <a:r>
              <a:rPr dirty="0" err="1"/>
              <a:t>Unterstützung</a:t>
            </a:r>
            <a:r>
              <a:rPr dirty="0"/>
              <a:t> </a:t>
            </a:r>
            <a:r>
              <a:rPr dirty="0" err="1"/>
              <a:t>bei</a:t>
            </a:r>
            <a:r>
              <a:rPr dirty="0"/>
              <a:t> </a:t>
            </a:r>
            <a:r>
              <a:rPr dirty="0" err="1"/>
              <a:t>Architektur</a:t>
            </a:r>
            <a:r>
              <a:rPr dirty="0"/>
              <a:t>, </a:t>
            </a:r>
            <a:r>
              <a:rPr dirty="0" err="1"/>
              <a:t>Codequalität</a:t>
            </a:r>
            <a:endParaRPr dirty="0"/>
          </a:p>
          <a:p>
            <a:pPr>
              <a:spcAft>
                <a:spcPts val="1200"/>
              </a:spcAft>
              <a:defRPr sz="1900">
                <a:latin typeface="Aptos"/>
              </a:defRPr>
            </a:pPr>
            <a:r>
              <a:rPr dirty="0"/>
              <a:t>• Product Owner / Business: </a:t>
            </a:r>
            <a:r>
              <a:rPr dirty="0" err="1"/>
              <a:t>fachliche</a:t>
            </a:r>
            <a:r>
              <a:rPr dirty="0"/>
              <a:t> </a:t>
            </a:r>
            <a:r>
              <a:rPr dirty="0" err="1"/>
              <a:t>Akzeptanzkriterien</a:t>
            </a:r>
            <a:r>
              <a:rPr dirty="0"/>
              <a:t> und </a:t>
            </a:r>
            <a:r>
              <a:rPr dirty="0" err="1"/>
              <a:t>Priorisierung</a:t>
            </a:r>
            <a:endParaRPr dirty="0"/>
          </a:p>
          <a:p>
            <a:pPr>
              <a:spcAft>
                <a:spcPts val="1200"/>
              </a:spcAft>
              <a:defRPr sz="1900">
                <a:latin typeface="Aptos"/>
              </a:defRPr>
            </a:pPr>
            <a:r>
              <a:rPr dirty="0"/>
              <a:t>• DevOps: CI/CD, </a:t>
            </a:r>
            <a:r>
              <a:rPr dirty="0" err="1"/>
              <a:t>Infrastruktur</a:t>
            </a:r>
            <a:r>
              <a:rPr dirty="0"/>
              <a:t>, Secrets und </a:t>
            </a:r>
            <a:r>
              <a:rPr dirty="0" err="1"/>
              <a:t>Testumgebungen</a:t>
            </a:r>
            <a:endParaRPr dirty="0"/>
          </a:p>
          <a:p>
            <a:pPr>
              <a:spcAft>
                <a:spcPts val="1200"/>
              </a:spcAft>
              <a:defRPr sz="1900">
                <a:latin typeface="Aptos"/>
              </a:defRPr>
            </a:pPr>
            <a:r>
              <a:rPr dirty="0"/>
              <a:t>• </a:t>
            </a:r>
            <a:r>
              <a:rPr dirty="0" err="1"/>
              <a:t>Empfehlung</a:t>
            </a:r>
            <a:r>
              <a:rPr dirty="0"/>
              <a:t>: </a:t>
            </a:r>
            <a:r>
              <a:rPr dirty="0" err="1"/>
              <a:t>Verantwortlichkeiten</a:t>
            </a:r>
            <a:r>
              <a:rPr dirty="0"/>
              <a:t> </a:t>
            </a:r>
            <a:r>
              <a:rPr dirty="0" err="1"/>
              <a:t>früh</a:t>
            </a:r>
            <a:r>
              <a:rPr dirty="0"/>
              <a:t> </a:t>
            </a:r>
            <a:r>
              <a:rPr dirty="0" err="1"/>
              <a:t>klären</a:t>
            </a:r>
            <a:r>
              <a:rPr dirty="0"/>
              <a:t> und </a:t>
            </a:r>
            <a:r>
              <a:rPr dirty="0" err="1"/>
              <a:t>ein</a:t>
            </a:r>
            <a:r>
              <a:rPr dirty="0"/>
              <a:t> </a:t>
            </a:r>
            <a:r>
              <a:rPr dirty="0" err="1"/>
              <a:t>kleines</a:t>
            </a:r>
            <a:r>
              <a:rPr dirty="0"/>
              <a:t> </a:t>
            </a:r>
            <a:r>
              <a:rPr dirty="0" err="1"/>
              <a:t>Kernteam</a:t>
            </a:r>
            <a:r>
              <a:rPr dirty="0"/>
              <a:t> </a:t>
            </a:r>
            <a:r>
              <a:rPr dirty="0" err="1"/>
              <a:t>benennen</a:t>
            </a:r>
            <a:endParaRPr dirty="0"/>
          </a:p>
        </p:txBody>
      </p:sp>
      <p:sp>
        <p:nvSpPr>
          <p:cNvPr id="5" name="TextBox 4"/>
          <p:cNvSpPr txBox="1"/>
          <p:nvPr/>
        </p:nvSpPr>
        <p:spPr>
          <a:xfrm>
            <a:off x="9875520" y="6446520"/>
            <a:ext cx="1554480" cy="228600"/>
          </a:xfrm>
          <a:prstGeom prst="rect">
            <a:avLst/>
          </a:prstGeom>
          <a:noFill/>
        </p:spPr>
        <p:txBody>
          <a:bodyPr wrap="none">
            <a:spAutoFit/>
          </a:bodyPr>
          <a:lstStyle/>
          <a:p>
            <a:pPr algn="r">
              <a:defRPr sz="900"/>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8513164" cy="507831"/>
          </a:xfrm>
          <a:prstGeom prst="rect">
            <a:avLst/>
          </a:prstGeom>
          <a:noFill/>
        </p:spPr>
        <p:txBody>
          <a:bodyPr wrap="none">
            <a:spAutoFit/>
          </a:bodyPr>
          <a:lstStyle/>
          <a:p>
            <a:pPr>
              <a:defRPr sz="2700" b="1">
                <a:latin typeface="Aptos Display"/>
              </a:defRPr>
            </a:pPr>
            <a:r>
              <a:rPr dirty="0"/>
              <a:t>8. Budget: T</a:t>
            </a:r>
            <a:r>
              <a:rPr lang="de-DE" dirty="0" err="1"/>
              <a:t>otal</a:t>
            </a:r>
            <a:r>
              <a:rPr lang="de-DE" dirty="0"/>
              <a:t> </a:t>
            </a:r>
            <a:r>
              <a:rPr dirty="0"/>
              <a:t>C</a:t>
            </a:r>
            <a:r>
              <a:rPr lang="de-DE" dirty="0" err="1"/>
              <a:t>ost</a:t>
            </a:r>
            <a:r>
              <a:rPr lang="de-DE" dirty="0"/>
              <a:t> of Ownership</a:t>
            </a:r>
            <a:r>
              <a:rPr dirty="0"/>
              <a:t> </a:t>
            </a:r>
            <a:r>
              <a:rPr dirty="0" err="1"/>
              <a:t>statt</a:t>
            </a:r>
            <a:r>
              <a:rPr dirty="0"/>
              <a:t> </a:t>
            </a:r>
            <a:r>
              <a:rPr dirty="0" err="1"/>
              <a:t>nur</a:t>
            </a:r>
            <a:r>
              <a:rPr dirty="0"/>
              <a:t> </a:t>
            </a:r>
            <a:r>
              <a:rPr dirty="0" err="1"/>
              <a:t>Lizenzkosten</a:t>
            </a:r>
            <a:endParaRPr dirty="0"/>
          </a:p>
        </p:txBody>
      </p:sp>
      <p:sp>
        <p:nvSpPr>
          <p:cNvPr id="3" name="Rectangle 2"/>
          <p:cNvSpPr/>
          <p:nvPr/>
        </p:nvSpPr>
        <p:spPr>
          <a:xfrm>
            <a:off x="640080" y="1170432"/>
            <a:ext cx="914400"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515600" cy="4754880"/>
          </a:xfrm>
          <a:prstGeom prst="rect">
            <a:avLst/>
          </a:prstGeom>
          <a:noFill/>
        </p:spPr>
        <p:txBody>
          <a:bodyPr wrap="square">
            <a:spAutoFit/>
          </a:bodyPr>
          <a:lstStyle/>
          <a:p>
            <a:pPr>
              <a:spcAft>
                <a:spcPts val="1200"/>
              </a:spcAft>
              <a:defRPr sz="1900">
                <a:latin typeface="Aptos"/>
              </a:defRPr>
            </a:pPr>
            <a:r>
              <a:t>• Open Source kann Lizenzkosten reduzieren – ist aber nicht kostenlos</a:t>
            </a:r>
          </a:p>
          <a:p>
            <a:pPr>
              <a:spcAft>
                <a:spcPts val="1200"/>
              </a:spcAft>
              <a:defRPr sz="1900">
                <a:latin typeface="Aptos"/>
              </a:defRPr>
            </a:pPr>
            <a:r>
              <a:t>• Weitere Kosten: Schulung, Entwicklung, Wartung, CI-Infrastruktur, Testdaten und Geräte</a:t>
            </a:r>
          </a:p>
          <a:p>
            <a:pPr>
              <a:spcAft>
                <a:spcPts val="1200"/>
              </a:spcAft>
              <a:defRPr sz="1900">
                <a:latin typeface="Aptos"/>
              </a:defRPr>
            </a:pPr>
            <a:r>
              <a:t>• Kommerzielle Tools können durch Support und geringeren Initialaufwand sinnvoll sein</a:t>
            </a:r>
          </a:p>
          <a:p>
            <a:pPr>
              <a:spcAft>
                <a:spcPts val="1200"/>
              </a:spcAft>
              <a:defRPr sz="1900">
                <a:latin typeface="Aptos"/>
              </a:defRPr>
            </a:pPr>
            <a:r>
              <a:t>• Daher: Total Cost of Ownership über 2–3 Jahre betrachten</a:t>
            </a:r>
          </a:p>
          <a:p>
            <a:pPr>
              <a:spcAft>
                <a:spcPts val="1200"/>
              </a:spcAft>
              <a:defRPr sz="1900">
                <a:latin typeface="Aptos"/>
              </a:defRPr>
            </a:pPr>
            <a:r>
              <a:t>• Budgetentscheidung anhand von Nutzen, Risiko und Aufwand treffen</a:t>
            </a:r>
          </a:p>
        </p:txBody>
      </p:sp>
      <p:sp>
        <p:nvSpPr>
          <p:cNvPr id="5" name="TextBox 4"/>
          <p:cNvSpPr txBox="1"/>
          <p:nvPr/>
        </p:nvSpPr>
        <p:spPr>
          <a:xfrm>
            <a:off x="9875520" y="6446520"/>
            <a:ext cx="1554480" cy="228600"/>
          </a:xfrm>
          <a:prstGeom prst="rect">
            <a:avLst/>
          </a:prstGeom>
          <a:noFill/>
        </p:spPr>
        <p:txBody>
          <a:bodyPr wrap="none">
            <a:spAutoFit/>
          </a:bodyPr>
          <a:lstStyle/>
          <a:p>
            <a:pPr algn="r">
              <a:defRPr sz="900"/>
            </a:pPr>
            <a: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731520"/>
          </a:xfrm>
          <a:prstGeom prst="rect">
            <a:avLst/>
          </a:prstGeom>
          <a:noFill/>
        </p:spPr>
        <p:txBody>
          <a:bodyPr wrap="none">
            <a:spAutoFit/>
          </a:bodyPr>
          <a:lstStyle/>
          <a:p>
            <a:pPr>
              <a:defRPr sz="2700" b="1">
                <a:latin typeface="Aptos Display"/>
              </a:defRPr>
            </a:pPr>
            <a:r>
              <a:t>9. Mein Vorschlag: Proof of Concept</a:t>
            </a:r>
          </a:p>
        </p:txBody>
      </p:sp>
      <p:sp>
        <p:nvSpPr>
          <p:cNvPr id="3" name="Rectangle 2"/>
          <p:cNvSpPr/>
          <p:nvPr/>
        </p:nvSpPr>
        <p:spPr>
          <a:xfrm>
            <a:off x="640080" y="1170432"/>
            <a:ext cx="914400"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515600" cy="4754880"/>
          </a:xfrm>
          <a:prstGeom prst="rect">
            <a:avLst/>
          </a:prstGeom>
          <a:noFill/>
        </p:spPr>
        <p:txBody>
          <a:bodyPr wrap="square">
            <a:spAutoFit/>
          </a:bodyPr>
          <a:lstStyle/>
          <a:p>
            <a:pPr>
              <a:spcAft>
                <a:spcPts val="1200"/>
              </a:spcAft>
              <a:defRPr sz="1900">
                <a:latin typeface="Aptos"/>
              </a:defRPr>
            </a:pPr>
            <a:r>
              <a:t>• 1. Einen kritischen Business-Prozess auswählen</a:t>
            </a:r>
          </a:p>
          <a:p>
            <a:pPr>
              <a:spcAft>
                <a:spcPts val="1200"/>
              </a:spcAft>
              <a:defRPr sz="1900">
                <a:latin typeface="Aptos"/>
              </a:defRPr>
            </a:pPr>
            <a:r>
              <a:t>• 2. Einen API-Test und/oder einen repräsentativen UI-Test automatisieren</a:t>
            </a:r>
          </a:p>
          <a:p>
            <a:pPr>
              <a:spcAft>
                <a:spcPts val="1200"/>
              </a:spcAft>
              <a:defRPr sz="1900">
                <a:latin typeface="Aptos"/>
              </a:defRPr>
            </a:pPr>
            <a:r>
              <a:t>• 3. Playwright/Selenium bzw. REST-Assured/Appium gegen Alternativen bewerten</a:t>
            </a:r>
          </a:p>
          <a:p>
            <a:pPr>
              <a:spcAft>
                <a:spcPts val="1200"/>
              </a:spcAft>
              <a:defRPr sz="1900">
                <a:latin typeface="Aptos"/>
              </a:defRPr>
            </a:pPr>
            <a:r>
              <a:t>• 4. CI/CD-Ausführung, Reporting und Wartbarkeit testen</a:t>
            </a:r>
          </a:p>
          <a:p>
            <a:pPr>
              <a:spcAft>
                <a:spcPts val="1200"/>
              </a:spcAft>
              <a:defRPr sz="1900">
                <a:latin typeface="Aptos"/>
              </a:defRPr>
            </a:pPr>
            <a:r>
              <a:t>• 5. Aufwand, Stabilität und Nutzen messen</a:t>
            </a:r>
          </a:p>
          <a:p>
            <a:pPr>
              <a:spcAft>
                <a:spcPts val="1200"/>
              </a:spcAft>
              <a:defRPr sz="1900">
                <a:latin typeface="Aptos"/>
              </a:defRPr>
            </a:pPr>
            <a:r>
              <a:t>• Ergebnis: belastbare Entscheidung statt Tool-Auswahl auf Basis von Marketing oder Bauchgefühl</a:t>
            </a:r>
          </a:p>
        </p:txBody>
      </p:sp>
      <p:sp>
        <p:nvSpPr>
          <p:cNvPr id="5" name="TextBox 4"/>
          <p:cNvSpPr txBox="1"/>
          <p:nvPr/>
        </p:nvSpPr>
        <p:spPr>
          <a:xfrm>
            <a:off x="9875520" y="6446520"/>
            <a:ext cx="1554480" cy="228600"/>
          </a:xfrm>
          <a:prstGeom prst="rect">
            <a:avLst/>
          </a:prstGeom>
          <a:noFill/>
        </p:spPr>
        <p:txBody>
          <a:bodyPr wrap="none">
            <a:spAutoFit/>
          </a:bodyPr>
          <a:lstStyle/>
          <a:p>
            <a:pPr algn="r">
              <a:defRPr sz="900"/>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731520"/>
          </a:xfrm>
          <a:prstGeom prst="rect">
            <a:avLst/>
          </a:prstGeom>
          <a:noFill/>
        </p:spPr>
        <p:txBody>
          <a:bodyPr wrap="none">
            <a:spAutoFit/>
          </a:bodyPr>
          <a:lstStyle/>
          <a:p>
            <a:pPr>
              <a:defRPr sz="2700" b="1">
                <a:latin typeface="Aptos Display"/>
              </a:defRPr>
            </a:pPr>
            <a:r>
              <a:t>10. Zielbild der Einführung</a:t>
            </a:r>
          </a:p>
        </p:txBody>
      </p:sp>
      <p:sp>
        <p:nvSpPr>
          <p:cNvPr id="3" name="Rectangle 2"/>
          <p:cNvSpPr/>
          <p:nvPr/>
        </p:nvSpPr>
        <p:spPr>
          <a:xfrm>
            <a:off x="640080" y="1170432"/>
            <a:ext cx="914400"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515600" cy="4754880"/>
          </a:xfrm>
          <a:prstGeom prst="rect">
            <a:avLst/>
          </a:prstGeom>
          <a:noFill/>
        </p:spPr>
        <p:txBody>
          <a:bodyPr wrap="square">
            <a:spAutoFit/>
          </a:bodyPr>
          <a:lstStyle/>
          <a:p>
            <a:pPr>
              <a:spcAft>
                <a:spcPts val="1200"/>
              </a:spcAft>
              <a:defRPr sz="1900">
                <a:latin typeface="Aptos"/>
              </a:defRPr>
            </a:pPr>
            <a:r>
              <a:t>• Phase 1: Discovery &amp; Tool-Kriterien</a:t>
            </a:r>
          </a:p>
          <a:p>
            <a:pPr>
              <a:spcAft>
                <a:spcPts val="1200"/>
              </a:spcAft>
              <a:defRPr sz="1900">
                <a:latin typeface="Aptos"/>
              </a:defRPr>
            </a:pPr>
            <a:r>
              <a:t>• Phase 2: Proof of Concept</a:t>
            </a:r>
          </a:p>
          <a:p>
            <a:pPr>
              <a:spcAft>
                <a:spcPts val="1200"/>
              </a:spcAft>
              <a:defRPr sz="1900">
                <a:latin typeface="Aptos"/>
              </a:defRPr>
            </a:pPr>
            <a:r>
              <a:t>• Phase 3: Testautomatisierungs-Architektur und Coding Standards</a:t>
            </a:r>
          </a:p>
          <a:p>
            <a:pPr>
              <a:spcAft>
                <a:spcPts val="1200"/>
              </a:spcAft>
              <a:defRPr sz="1900">
                <a:latin typeface="Aptos"/>
              </a:defRPr>
            </a:pPr>
            <a:r>
              <a:t>• Phase 4: Pilot mit wenigen kritischen Tests</a:t>
            </a:r>
          </a:p>
          <a:p>
            <a:pPr>
              <a:spcAft>
                <a:spcPts val="1200"/>
              </a:spcAft>
              <a:defRPr sz="1900">
                <a:latin typeface="Aptos"/>
              </a:defRPr>
            </a:pPr>
            <a:r>
              <a:t>• Phase 5: Integration in CI/CD und Reporting</a:t>
            </a:r>
          </a:p>
          <a:p>
            <a:pPr>
              <a:spcAft>
                <a:spcPts val="1200"/>
              </a:spcAft>
              <a:defRPr sz="1900">
                <a:latin typeface="Aptos"/>
              </a:defRPr>
            </a:pPr>
            <a:r>
              <a:t>• Phase 6: Skalierung, Monitoring und kontinuierliche Wartung</a:t>
            </a:r>
          </a:p>
        </p:txBody>
      </p:sp>
      <p:sp>
        <p:nvSpPr>
          <p:cNvPr id="5" name="TextBox 4"/>
          <p:cNvSpPr txBox="1"/>
          <p:nvPr/>
        </p:nvSpPr>
        <p:spPr>
          <a:xfrm>
            <a:off x="9875520" y="6446520"/>
            <a:ext cx="1554480" cy="228600"/>
          </a:xfrm>
          <a:prstGeom prst="rect">
            <a:avLst/>
          </a:prstGeom>
          <a:noFill/>
        </p:spPr>
        <p:txBody>
          <a:bodyPr wrap="none">
            <a:spAutoFit/>
          </a:bodyPr>
          <a:lstStyle/>
          <a:p>
            <a:pPr algn="r">
              <a:defRPr sz="900"/>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731520"/>
          </a:xfrm>
          <a:prstGeom prst="rect">
            <a:avLst/>
          </a:prstGeom>
          <a:noFill/>
        </p:spPr>
        <p:txBody>
          <a:bodyPr wrap="none">
            <a:spAutoFit/>
          </a:bodyPr>
          <a:lstStyle/>
          <a:p>
            <a:pPr>
              <a:defRPr sz="2700" b="1">
                <a:latin typeface="Aptos Display"/>
              </a:defRPr>
            </a:pPr>
            <a:r>
              <a:t>11. Erfolgskriterien</a:t>
            </a:r>
          </a:p>
        </p:txBody>
      </p:sp>
      <p:sp>
        <p:nvSpPr>
          <p:cNvPr id="3" name="Rectangle 2"/>
          <p:cNvSpPr/>
          <p:nvPr/>
        </p:nvSpPr>
        <p:spPr>
          <a:xfrm>
            <a:off x="640080" y="1170432"/>
            <a:ext cx="914400"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515600" cy="4754880"/>
          </a:xfrm>
          <a:prstGeom prst="rect">
            <a:avLst/>
          </a:prstGeom>
          <a:noFill/>
        </p:spPr>
        <p:txBody>
          <a:bodyPr wrap="square">
            <a:spAutoFit/>
          </a:bodyPr>
          <a:lstStyle/>
          <a:p>
            <a:pPr>
              <a:spcAft>
                <a:spcPts val="1200"/>
              </a:spcAft>
              <a:defRPr sz="1900">
                <a:latin typeface="Aptos"/>
              </a:defRPr>
            </a:pPr>
            <a:r>
              <a:t>• Hohe Stabilität der automatisierten Tests</a:t>
            </a:r>
          </a:p>
          <a:p>
            <a:pPr>
              <a:spcAft>
                <a:spcPts val="1200"/>
              </a:spcAft>
              <a:defRPr sz="1900">
                <a:latin typeface="Aptos"/>
              </a:defRPr>
            </a:pPr>
            <a:r>
              <a:t>• Kurze Feedback-Zeit für Entwickler und Fachbereiche</a:t>
            </a:r>
          </a:p>
          <a:p>
            <a:pPr>
              <a:spcAft>
                <a:spcPts val="1200"/>
              </a:spcAft>
              <a:defRPr sz="1900">
                <a:latin typeface="Aptos"/>
              </a:defRPr>
            </a:pPr>
            <a:r>
              <a:t>• Weniger manuelle Regression bei wiederholbaren Szenarien</a:t>
            </a:r>
          </a:p>
          <a:p>
            <a:pPr>
              <a:spcAft>
                <a:spcPts val="1200"/>
              </a:spcAft>
              <a:defRPr sz="1900">
                <a:latin typeface="Aptos"/>
              </a:defRPr>
            </a:pPr>
            <a:r>
              <a:t>• Gute Fehlersuche durch Logs, Screenshots/Traces und Reports</a:t>
            </a:r>
          </a:p>
          <a:p>
            <a:pPr>
              <a:spcAft>
                <a:spcPts val="1200"/>
              </a:spcAft>
              <a:defRPr sz="1900">
                <a:latin typeface="Aptos"/>
              </a:defRPr>
            </a:pPr>
            <a:r>
              <a:t>• Nachvollziehbare Wartungskosten</a:t>
            </a:r>
          </a:p>
          <a:p>
            <a:pPr>
              <a:spcAft>
                <a:spcPts val="1200"/>
              </a:spcAft>
              <a:defRPr sz="1900">
                <a:latin typeface="Aptos"/>
              </a:defRPr>
            </a:pPr>
            <a:r>
              <a:t>• Automatisierung als Bestandteil des Entwicklungsprozesses – nicht als separates Nebenprojekt</a:t>
            </a:r>
          </a:p>
        </p:txBody>
      </p:sp>
      <p:sp>
        <p:nvSpPr>
          <p:cNvPr id="5" name="TextBox 4"/>
          <p:cNvSpPr txBox="1"/>
          <p:nvPr/>
        </p:nvSpPr>
        <p:spPr>
          <a:xfrm>
            <a:off x="9875520" y="6446520"/>
            <a:ext cx="1554480" cy="228600"/>
          </a:xfrm>
          <a:prstGeom prst="rect">
            <a:avLst/>
          </a:prstGeom>
          <a:noFill/>
        </p:spPr>
        <p:txBody>
          <a:bodyPr wrap="none">
            <a:spAutoFit/>
          </a:bodyPr>
          <a:lstStyle/>
          <a:p>
            <a:pPr algn="r">
              <a:defRPr sz="900"/>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731520"/>
          </a:xfrm>
          <a:prstGeom prst="rect">
            <a:avLst/>
          </a:prstGeom>
          <a:noFill/>
        </p:spPr>
        <p:txBody>
          <a:bodyPr wrap="none">
            <a:spAutoFit/>
          </a:bodyPr>
          <a:lstStyle/>
          <a:p>
            <a:pPr>
              <a:defRPr sz="2700" b="1">
                <a:latin typeface="Aptos Display"/>
              </a:defRPr>
            </a:pPr>
            <a:r>
              <a:t>12. Empfehlung &amp; nächste Schritte</a:t>
            </a:r>
          </a:p>
        </p:txBody>
      </p:sp>
      <p:sp>
        <p:nvSpPr>
          <p:cNvPr id="3" name="Rectangle 2"/>
          <p:cNvSpPr/>
          <p:nvPr/>
        </p:nvSpPr>
        <p:spPr>
          <a:xfrm>
            <a:off x="640080" y="1170432"/>
            <a:ext cx="914400"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515600" cy="4754880"/>
          </a:xfrm>
          <a:prstGeom prst="rect">
            <a:avLst/>
          </a:prstGeom>
          <a:noFill/>
        </p:spPr>
        <p:txBody>
          <a:bodyPr wrap="square">
            <a:spAutoFit/>
          </a:bodyPr>
          <a:lstStyle/>
          <a:p>
            <a:pPr>
              <a:spcAft>
                <a:spcPts val="1200"/>
              </a:spcAft>
              <a:defRPr sz="1900">
                <a:latin typeface="Aptos"/>
              </a:defRPr>
            </a:pPr>
            <a:r>
              <a:t>• Noch keine finale Tool-Entscheidung ohne Discovery</a:t>
            </a:r>
          </a:p>
          <a:p>
            <a:pPr>
              <a:spcAft>
                <a:spcPts val="1200"/>
              </a:spcAft>
              <a:defRPr sz="1900">
                <a:latin typeface="Aptos"/>
              </a:defRPr>
            </a:pPr>
            <a:r>
              <a:t>• Open-Source-first ist bei offenem Budget ein sinnvoller Ausgangspunkt</a:t>
            </a:r>
          </a:p>
          <a:p>
            <a:pPr>
              <a:spcAft>
                <a:spcPts val="1200"/>
              </a:spcAft>
              <a:defRPr sz="1900">
                <a:latin typeface="Aptos"/>
              </a:defRPr>
            </a:pPr>
            <a:r>
              <a:t>• Playwright würde ich für Web als starken Kandidaten in den PoC nehmen</a:t>
            </a:r>
          </a:p>
          <a:p>
            <a:pPr>
              <a:spcAft>
                <a:spcPts val="1200"/>
              </a:spcAft>
              <a:defRPr sz="1900">
                <a:latin typeface="Aptos"/>
              </a:defRPr>
            </a:pPr>
            <a:r>
              <a:t>• API: REST Assured bzw. Playwright/API-Funktionen abhängig vom Technologie-Stack</a:t>
            </a:r>
          </a:p>
          <a:p>
            <a:pPr>
              <a:spcAft>
                <a:spcPts val="1200"/>
              </a:spcAft>
              <a:defRPr sz="1900">
                <a:latin typeface="Aptos"/>
              </a:defRPr>
            </a:pPr>
            <a:r>
              <a:t>• Mobile: Appium als Kandidat</a:t>
            </a:r>
          </a:p>
          <a:p>
            <a:pPr>
              <a:spcAft>
                <a:spcPts val="1200"/>
              </a:spcAft>
              <a:defRPr sz="1900">
                <a:latin typeface="Aptos"/>
              </a:defRPr>
            </a:pPr>
            <a:r>
              <a:t>• Nächster Schritt: Workshop mit Produkt-, QA-, Entwicklungs- und DevOps-Verantwortlichen + PoC</a:t>
            </a:r>
          </a:p>
        </p:txBody>
      </p:sp>
      <p:sp>
        <p:nvSpPr>
          <p:cNvPr id="5" name="TextBox 4"/>
          <p:cNvSpPr txBox="1"/>
          <p:nvPr/>
        </p:nvSpPr>
        <p:spPr>
          <a:xfrm>
            <a:off x="9875520" y="6446520"/>
            <a:ext cx="1554480" cy="228600"/>
          </a:xfrm>
          <a:prstGeom prst="rect">
            <a:avLst/>
          </a:prstGeom>
          <a:noFill/>
        </p:spPr>
        <p:txBody>
          <a:bodyPr wrap="none">
            <a:spAutoFit/>
          </a:bodyPr>
          <a:lstStyle/>
          <a:p>
            <a:pPr algn="r">
              <a:defRPr sz="900"/>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731520"/>
          </a:xfrm>
          <a:prstGeom prst="rect">
            <a:avLst/>
          </a:prstGeom>
          <a:noFill/>
        </p:spPr>
        <p:txBody>
          <a:bodyPr wrap="none">
            <a:spAutoFit/>
          </a:bodyPr>
          <a:lstStyle/>
          <a:p>
            <a:pPr>
              <a:defRPr sz="2700" b="1">
                <a:latin typeface="Aptos Display"/>
              </a:defRPr>
            </a:pPr>
            <a:r>
              <a:t>Fragen an den Kunden</a:t>
            </a:r>
          </a:p>
        </p:txBody>
      </p:sp>
      <p:sp>
        <p:nvSpPr>
          <p:cNvPr id="3" name="Rectangle 2"/>
          <p:cNvSpPr/>
          <p:nvPr/>
        </p:nvSpPr>
        <p:spPr>
          <a:xfrm>
            <a:off x="640080" y="1170432"/>
            <a:ext cx="914400"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508760"/>
            <a:ext cx="10515600" cy="4754880"/>
          </a:xfrm>
          <a:prstGeom prst="rect">
            <a:avLst/>
          </a:prstGeom>
          <a:noFill/>
        </p:spPr>
        <p:txBody>
          <a:bodyPr wrap="square">
            <a:spAutoFit/>
          </a:bodyPr>
          <a:lstStyle/>
          <a:p>
            <a:pPr>
              <a:spcAft>
                <a:spcPts val="1200"/>
              </a:spcAft>
              <a:defRPr sz="1900">
                <a:latin typeface="Aptos"/>
              </a:defRPr>
            </a:pPr>
            <a:r>
              <a:t>• Welche Produkte und Technologien sollen getestet werden?</a:t>
            </a:r>
          </a:p>
          <a:p>
            <a:pPr>
              <a:spcAft>
                <a:spcPts val="1200"/>
              </a:spcAft>
              <a:defRPr sz="1900">
                <a:latin typeface="Aptos"/>
              </a:defRPr>
            </a:pPr>
            <a:r>
              <a:t>• Welche Geschäftsprozesse sind besonders kritisch?</a:t>
            </a:r>
          </a:p>
          <a:p>
            <a:pPr>
              <a:spcAft>
                <a:spcPts val="1200"/>
              </a:spcAft>
              <a:defRPr sz="1900">
                <a:latin typeface="Aptos"/>
              </a:defRPr>
            </a:pPr>
            <a:r>
              <a:t>• Wer soll die Tests entwickeln und langfristig warten?</a:t>
            </a:r>
          </a:p>
          <a:p>
            <a:pPr>
              <a:spcAft>
                <a:spcPts val="1200"/>
              </a:spcAft>
              <a:defRPr sz="1900">
                <a:latin typeface="Aptos"/>
              </a:defRPr>
            </a:pPr>
            <a:r>
              <a:t>• Welche CI/CD- und Entwicklungsumgebung ist vorhanden?</a:t>
            </a:r>
          </a:p>
          <a:p>
            <a:pPr>
              <a:spcAft>
                <a:spcPts val="1200"/>
              </a:spcAft>
              <a:defRPr sz="1900">
                <a:latin typeface="Aptos"/>
              </a:defRPr>
            </a:pPr>
            <a:r>
              <a:t>• Welche Anforderungen gibt es an Reporting und Compliance?</a:t>
            </a:r>
          </a:p>
          <a:p>
            <a:pPr>
              <a:spcAft>
                <a:spcPts val="1200"/>
              </a:spcAft>
              <a:defRPr sz="1900">
                <a:latin typeface="Aptos"/>
              </a:defRPr>
            </a:pPr>
            <a:r>
              <a:t>• Welches Budget bzw. welche internen Ressourcen stehen zur Verfügung?</a:t>
            </a:r>
          </a:p>
        </p:txBody>
      </p:sp>
      <p:sp>
        <p:nvSpPr>
          <p:cNvPr id="5" name="TextBox 4"/>
          <p:cNvSpPr txBox="1"/>
          <p:nvPr/>
        </p:nvSpPr>
        <p:spPr>
          <a:xfrm>
            <a:off x="9875520" y="6446520"/>
            <a:ext cx="1554480" cy="228600"/>
          </a:xfrm>
          <a:prstGeom prst="rect">
            <a:avLst/>
          </a:prstGeom>
          <a:noFill/>
        </p:spPr>
        <p:txBody>
          <a:bodyPr wrap="none">
            <a:spAutoFit/>
          </a:bodyPr>
          <a:lstStyle/>
          <a:p>
            <a:pPr algn="r">
              <a:defRPr sz="900"/>
            </a:pPr>
            <a: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2463</Words>
  <Application>Microsoft Macintosh PowerPoint</Application>
  <PresentationFormat>Widescreen</PresentationFormat>
  <Paragraphs>263</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Hilary Chukwuji | Verimi</cp:lastModifiedBy>
  <cp:revision>2</cp:revision>
  <dcterms:created xsi:type="dcterms:W3CDTF">2013-01-27T09:14:16Z</dcterms:created>
  <dcterms:modified xsi:type="dcterms:W3CDTF">2026-08-26T14:56:36Z</dcterms:modified>
  <cp:category/>
</cp:coreProperties>
</file>